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61" r:id="rId5"/>
    <p:sldId id="260" r:id="rId6"/>
    <p:sldId id="259" r:id="rId7"/>
    <p:sldId id="262" r:id="rId8"/>
    <p:sldId id="263" r:id="rId9"/>
    <p:sldId id="275" r:id="rId10"/>
    <p:sldId id="264" r:id="rId11"/>
    <p:sldId id="265" r:id="rId12"/>
    <p:sldId id="266" r:id="rId13"/>
    <p:sldId id="267" r:id="rId14"/>
    <p:sldId id="268" r:id="rId15"/>
    <p:sldId id="269" r:id="rId16"/>
    <p:sldId id="273" r:id="rId17"/>
    <p:sldId id="270" r:id="rId18"/>
    <p:sldId id="271" r:id="rId19"/>
    <p:sldId id="27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797AB1F-E962-4416-9532-D5552B2DFF45}">
          <p14:sldIdLst>
            <p14:sldId id="256"/>
            <p14:sldId id="257"/>
          </p14:sldIdLst>
        </p14:section>
        <p14:section name="01 Project Intro" id="{4D722EC9-C352-4333-8CED-B77C0C0C3D2B}">
          <p14:sldIdLst>
            <p14:sldId id="258"/>
            <p14:sldId id="261"/>
            <p14:sldId id="260"/>
            <p14:sldId id="259"/>
          </p14:sldIdLst>
        </p14:section>
        <p14:section name="Reconstruction" id="{D7B6D626-8E65-432E-B5C6-63F9D2B42703}">
          <p14:sldIdLst>
            <p14:sldId id="262"/>
            <p14:sldId id="263"/>
            <p14:sldId id="275"/>
            <p14:sldId id="264"/>
            <p14:sldId id="265"/>
          </p14:sldIdLst>
        </p14:section>
        <p14:section name="Tech Challenge" id="{ED445D60-77ED-40A6-A2AE-0CE2EFC0FB9D}">
          <p14:sldIdLst>
            <p14:sldId id="266"/>
            <p14:sldId id="267"/>
            <p14:sldId id="268"/>
            <p14:sldId id="269"/>
          </p14:sldIdLst>
        </p14:section>
        <p14:section name="Summary" id="{AA0A029A-E519-4F38-9980-69CD9AE581A9}">
          <p14:sldIdLst>
            <p14:sldId id="273"/>
            <p14:sldId id="270"/>
            <p14:sldId id="271"/>
          </p14:sldIdLst>
        </p14:section>
        <p14:section name="end" id="{047EAFDA-2E89-46DE-A2FB-0A58B5D5AE8D}">
          <p14:sldIdLst>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3F1"/>
    <a:srgbClr val="CEC4EA"/>
    <a:srgbClr val="723DC1"/>
    <a:srgbClr val="562E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34" autoAdjust="0"/>
  </p:normalViewPr>
  <p:slideViewPr>
    <p:cSldViewPr snapToGrid="0">
      <p:cViewPr varScale="1">
        <p:scale>
          <a:sx n="77" d="100"/>
          <a:sy n="77" d="100"/>
        </p:scale>
        <p:origin x="102" y="84"/>
      </p:cViewPr>
      <p:guideLst/>
    </p:cSldViewPr>
  </p:slideViewPr>
  <p:notesTextViewPr>
    <p:cViewPr>
      <p:scale>
        <a:sx n="1" d="1"/>
        <a:sy n="1" d="1"/>
      </p:scale>
      <p:origin x="0" y="0"/>
    </p:cViewPr>
  </p:notesTextViewPr>
  <p:notesViewPr>
    <p:cSldViewPr snapToGrid="0">
      <p:cViewPr varScale="1">
        <p:scale>
          <a:sx n="71" d="100"/>
          <a:sy n="71" d="100"/>
        </p:scale>
        <p:origin x="249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451CA25-1D36-72AD-1142-D703172173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A9501FD-7276-F906-08A8-7EEF7DED1E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621FBC-5939-44D6-9C79-53F483794276}" type="datetimeFigureOut">
              <a:rPr lang="zh-CN" altLang="en-US" smtClean="0"/>
              <a:t>2026/3/4</a:t>
            </a:fld>
            <a:endParaRPr lang="zh-CN" altLang="en-US"/>
          </a:p>
        </p:txBody>
      </p:sp>
      <p:sp>
        <p:nvSpPr>
          <p:cNvPr id="4" name="页脚占位符 3">
            <a:extLst>
              <a:ext uri="{FF2B5EF4-FFF2-40B4-BE49-F238E27FC236}">
                <a16:creationId xmlns:a16="http://schemas.microsoft.com/office/drawing/2014/main" id="{997983F6-8C95-D663-11EF-200C0BDDC6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7E27FD3-1BD4-222C-E862-8F284E2BE5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10F965-4571-48C8-8902-E4A5E6857E66}" type="slidenum">
              <a:rPr lang="zh-CN" altLang="en-US" smtClean="0"/>
              <a:t>‹#›</a:t>
            </a:fld>
            <a:endParaRPr lang="zh-CN" altLang="en-US"/>
          </a:p>
        </p:txBody>
      </p:sp>
    </p:spTree>
    <p:extLst>
      <p:ext uri="{BB962C8B-B14F-4D97-AF65-F5344CB8AC3E}">
        <p14:creationId xmlns:p14="http://schemas.microsoft.com/office/powerpoint/2010/main" val="4211029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239B6D-5343-43BC-952F-377FEC29E3E9}" type="datetimeFigureOut">
              <a:rPr lang="zh-CN" altLang="en-US" smtClean="0"/>
              <a:t>2026/3/4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F4B1BE-1167-42C0-B1A0-F673540500A2}" type="slidenum">
              <a:rPr lang="zh-CN" altLang="en-US" smtClean="0"/>
              <a:t>‹#›</a:t>
            </a:fld>
            <a:endParaRPr lang="zh-CN" altLang="en-US"/>
          </a:p>
        </p:txBody>
      </p:sp>
    </p:spTree>
    <p:extLst>
      <p:ext uri="{BB962C8B-B14F-4D97-AF65-F5344CB8AC3E}">
        <p14:creationId xmlns:p14="http://schemas.microsoft.com/office/powerpoint/2010/main" val="2635176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My presentation has 4 parts. I will go through how I made my project and some challenges I encountered. The content might not be very fancy but I think it’s very practical, especially for someone who never implemented distributed framework.</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2</a:t>
            </a:fld>
            <a:endParaRPr lang="zh-CN" altLang="en-US"/>
          </a:p>
        </p:txBody>
      </p:sp>
    </p:spTree>
    <p:extLst>
      <p:ext uri="{BB962C8B-B14F-4D97-AF65-F5344CB8AC3E}">
        <p14:creationId xmlns:p14="http://schemas.microsoft.com/office/powerpoint/2010/main" val="2677858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part is a brief introduction. I will introduce the project background and tools I used.</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3</a:t>
            </a:fld>
            <a:endParaRPr lang="zh-CN" altLang="en-US"/>
          </a:p>
        </p:txBody>
      </p:sp>
    </p:spTree>
    <p:extLst>
      <p:ext uri="{BB962C8B-B14F-4D97-AF65-F5344CB8AC3E}">
        <p14:creationId xmlns:p14="http://schemas.microsoft.com/office/powerpoint/2010/main" val="178776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 what you can see, I chose the default final project provided by our Professor, which is a LLM that can perform simple calculations. Besides the training and fine-tuning, I added something new.</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4</a:t>
            </a:fld>
            <a:endParaRPr lang="zh-CN" altLang="en-US"/>
          </a:p>
        </p:txBody>
      </p:sp>
    </p:spTree>
    <p:extLst>
      <p:ext uri="{BB962C8B-B14F-4D97-AF65-F5344CB8AC3E}">
        <p14:creationId xmlns:p14="http://schemas.microsoft.com/office/powerpoint/2010/main" val="133344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This is what I mainly worked on – distributed training system. You might have heard about this before. As the models are becoming larger and large, in many cases we need to slide the model to several devices to prevent out of memory error or accelerate training process.</a:t>
            </a:r>
          </a:p>
          <a:p>
            <a:r>
              <a:rPr lang="en-US" altLang="zh-CN" dirty="0"/>
              <a:t>Single GPU means you do all the job on one GPU, the original code is a single GPU version. This version is good for testing and debugging, you can know whether your model is runnable or nor quickly. But it has strict limitation on GPU memory.</a:t>
            </a:r>
          </a:p>
          <a:p>
            <a:r>
              <a:rPr lang="en-US" altLang="zh-CN" dirty="0"/>
              <a:t>DP: Mater framework. The master GPU copy all the data to other GPUs on each step</a:t>
            </a:r>
          </a:p>
          <a:p>
            <a:r>
              <a:rPr lang="en-US" altLang="zh-CN" dirty="0"/>
              <a:t>DDP: multiple machines + multiple GPUs, but too many settings and configs</a:t>
            </a:r>
          </a:p>
          <a:p>
            <a:r>
              <a:rPr lang="en-US" altLang="zh-CN" dirty="0"/>
              <a:t>Accelerate: easy to implement, support advanced use like FSDP, </a:t>
            </a:r>
            <a:r>
              <a:rPr lang="en-US" altLang="zh-CN" dirty="0" err="1"/>
              <a:t>DeepSpeed</a:t>
            </a:r>
            <a:r>
              <a:rPr lang="en-US" altLang="zh-CN" dirty="0"/>
              <a:t> (method to let your model contain more parameters). This is the framework I used to construct my project.</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5</a:t>
            </a:fld>
            <a:endParaRPr lang="zh-CN" altLang="en-US"/>
          </a:p>
        </p:txBody>
      </p:sp>
    </p:spTree>
    <p:extLst>
      <p:ext uri="{BB962C8B-B14F-4D97-AF65-F5344CB8AC3E}">
        <p14:creationId xmlns:p14="http://schemas.microsoft.com/office/powerpoint/2010/main" val="1502286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Then let’s take a look at accelerate, let’s learn how to use it.</a:t>
            </a:r>
          </a:p>
          <a:p>
            <a:r>
              <a:rPr lang="en-US" altLang="zh-CN" dirty="0"/>
              <a:t>First step, after you install the accelerate, you will get some command line interaction, you need to determine machines, devices, precisions and some other settings.</a:t>
            </a:r>
          </a:p>
          <a:p>
            <a:r>
              <a:rPr lang="en-US" altLang="zh-CN" dirty="0"/>
              <a:t>Second step, you need to create an instance in your code, like any other packages. The instance will retrieve the parameters in config and convey them to </a:t>
            </a:r>
            <a:r>
              <a:rPr lang="en-US" altLang="zh-CN" dirty="0" err="1"/>
              <a:t>pytorch</a:t>
            </a:r>
            <a:r>
              <a:rPr lang="en-US" altLang="zh-CN" dirty="0"/>
              <a:t> DDP later.</a:t>
            </a:r>
          </a:p>
          <a:p>
            <a:r>
              <a:rPr lang="en-US" altLang="zh-CN" dirty="0"/>
              <a:t>Third step, in your code, don’t call the model or optimizer directly. You should put them in accelerate prepare, and accelerate will manage them for you.</a:t>
            </a:r>
          </a:p>
          <a:p>
            <a:r>
              <a:rPr lang="en-US" altLang="zh-CN" dirty="0"/>
              <a:t>At last, when run a script, don’t use python something. Instead, you should use accelerate launch.</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6</a:t>
            </a:fld>
            <a:endParaRPr lang="zh-CN" altLang="en-US"/>
          </a:p>
        </p:txBody>
      </p:sp>
    </p:spTree>
    <p:extLst>
      <p:ext uri="{BB962C8B-B14F-4D97-AF65-F5344CB8AC3E}">
        <p14:creationId xmlns:p14="http://schemas.microsoft.com/office/powerpoint/2010/main" val="2410895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second part is about what I did. First, the most important part is I refactored the project, enabling distributed data parallel training, which significantly accelerated my training process. Then I added some functions to my project. Since I rent compute to do my project, these functions are quite useful, I think they saved some money for me. And third, I think the structure of original project can be optimized, cause if you want to show the project to employers, you had better not put all the files in the root. So I rearranged the structure of the project.</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7</a:t>
            </a:fld>
            <a:endParaRPr lang="zh-CN" altLang="en-US"/>
          </a:p>
        </p:txBody>
      </p:sp>
    </p:spTree>
    <p:extLst>
      <p:ext uri="{BB962C8B-B14F-4D97-AF65-F5344CB8AC3E}">
        <p14:creationId xmlns:p14="http://schemas.microsoft.com/office/powerpoint/2010/main" val="3370708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Transferring from single GPU to multi-GPU, you need to remember these four changes on the left side. Your optimizer should update the weight on each GPU, but your scheduler shouldn’t update the learning rate on each GPU. We will talk about this in detail later. Since the accelerate manage devices for you, you shouldn’t set any device manually. Then, when you calculate loss, or any other metric, you need to gather data from all GPU and get the global metric.</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8</a:t>
            </a:fld>
            <a:endParaRPr lang="zh-CN" altLang="en-US"/>
          </a:p>
        </p:txBody>
      </p:sp>
    </p:spTree>
    <p:extLst>
      <p:ext uri="{BB962C8B-B14F-4D97-AF65-F5344CB8AC3E}">
        <p14:creationId xmlns:p14="http://schemas.microsoft.com/office/powerpoint/2010/main" val="2953156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the original version, the checkpoint resuming was only used for load previous model, such as load foundational model when we start training instruction model. But I met a practical problem, that is my program might stop anywhere, most times it raised a bug on the first epoch, that’s good because I can solve it as long as I see the bug. But sometimes the bug is raised after several epochs. So imagine I just submit the job in my server, expecting I will get the result but I don’t. And since the training is not finished, I can’t get the training log so I don’t know what was the stage of training.</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9</a:t>
            </a:fld>
            <a:endParaRPr lang="zh-CN" altLang="en-US"/>
          </a:p>
        </p:txBody>
      </p:sp>
    </p:spTree>
    <p:extLst>
      <p:ext uri="{BB962C8B-B14F-4D97-AF65-F5344CB8AC3E}">
        <p14:creationId xmlns:p14="http://schemas.microsoft.com/office/powerpoint/2010/main" val="4991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If you pay attention to the decrease of validation loss, you will see after 5 or 7 epochs, the decrease will become very small. In this situation, we can use early stopping. You just need to set a number, when the validation loss improvement is smaller than the given number, the training will stop.</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10</a:t>
            </a:fld>
            <a:endParaRPr lang="zh-CN" altLang="en-US"/>
          </a:p>
        </p:txBody>
      </p:sp>
    </p:spTree>
    <p:extLst>
      <p:ext uri="{BB962C8B-B14F-4D97-AF65-F5344CB8AC3E}">
        <p14:creationId xmlns:p14="http://schemas.microsoft.com/office/powerpoint/2010/main" val="3375855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challenge is I found my training didn’t reach the optimal even though the loss stop decreasing. How did I spot this bug? Since I used 4 GPUs at that time, the loss converged very fast,  to a value like 0.5. But as I trained on single GPU first, I know the ideal value for validation loss is about 0.4. Then I spent a lot of time trying to find what caused this bug and finally I find it was because the scheduler was wrong. Since the accelerate framework will synchronize you gradient among all devices, you only need to update the scheduler in the main progress. Otherwise, all your devices will update scheduler when gradient update just happen on one device.</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13</a:t>
            </a:fld>
            <a:endParaRPr lang="zh-CN" altLang="en-US"/>
          </a:p>
        </p:txBody>
      </p:sp>
    </p:spTree>
    <p:extLst>
      <p:ext uri="{BB962C8B-B14F-4D97-AF65-F5344CB8AC3E}">
        <p14:creationId xmlns:p14="http://schemas.microsoft.com/office/powerpoint/2010/main" val="2643468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single GPU training, the implementation of early stopping is quite naïve. You just need to add a conditional statement to determine whether the validation loss is lower than your threshold, that’s it. But in multi-GPU case, each GPU runs a copy of your code independently. Imagine a GPU who reaches the optimal first, then it says OK I will just stop here, you guys keep going. This causes a problem called Deadlock, meaning that the process will be hung up and other process will also stop. So the solution is, we don’t calculation validation loss on one GPU. Instead, we gather the global loss to determine whether the process should stop or not. If the global loss stop decreasing, then all process will stop.</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14</a:t>
            </a:fld>
            <a:endParaRPr lang="zh-CN" altLang="en-US"/>
          </a:p>
        </p:txBody>
      </p:sp>
    </p:spTree>
    <p:extLst>
      <p:ext uri="{BB962C8B-B14F-4D97-AF65-F5344CB8AC3E}">
        <p14:creationId xmlns:p14="http://schemas.microsoft.com/office/powerpoint/2010/main" val="700837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If a long training run was interrupted, we can load the weights but start a totally new training. The optimizer, scheduler and the learning rate will be initialized. This is bad for the model. Because, at the beginning we need to pace larger step, and as training epochs increase, we should pace smaller step. That’s what scheduler for. If you still use big step at the end of training, the loss will wave, instead of converge. So when resuming checkpoint, we should also inherit the optimizer and scheduler. But remember, we should only make this change in training resumption. For example, if you want to train instruction model based on foundational model, you shouldn’t use this.</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15</a:t>
            </a:fld>
            <a:endParaRPr lang="zh-CN" altLang="en-US"/>
          </a:p>
        </p:txBody>
      </p:sp>
    </p:spTree>
    <p:extLst>
      <p:ext uri="{BB962C8B-B14F-4D97-AF65-F5344CB8AC3E}">
        <p14:creationId xmlns:p14="http://schemas.microsoft.com/office/powerpoint/2010/main" val="2385960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last, this is a summary of what I do in the project, and some lessons I learned. I would say it’s really a good practice to implement transform from scratch and this make me figure out some details that I thought I understood but I didn’t.</a:t>
            </a:r>
            <a:endParaRPr lang="zh-CN" altLang="en-US" dirty="0"/>
          </a:p>
        </p:txBody>
      </p:sp>
      <p:sp>
        <p:nvSpPr>
          <p:cNvPr id="4" name="灯片编号占位符 3"/>
          <p:cNvSpPr>
            <a:spLocks noGrp="1"/>
          </p:cNvSpPr>
          <p:nvPr>
            <p:ph type="sldNum" sz="quarter" idx="5"/>
          </p:nvPr>
        </p:nvSpPr>
        <p:spPr/>
        <p:txBody>
          <a:bodyPr/>
          <a:lstStyle/>
          <a:p>
            <a:fld id="{EFF4B1BE-1167-42C0-B1A0-F673540500A2}" type="slidenum">
              <a:rPr lang="zh-CN" altLang="en-US" smtClean="0"/>
              <a:t>18</a:t>
            </a:fld>
            <a:endParaRPr lang="zh-CN" altLang="en-US"/>
          </a:p>
        </p:txBody>
      </p:sp>
    </p:spTree>
    <p:extLst>
      <p:ext uri="{BB962C8B-B14F-4D97-AF65-F5344CB8AC3E}">
        <p14:creationId xmlns:p14="http://schemas.microsoft.com/office/powerpoint/2010/main" val="2025851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all my presentation. Thank you </a:t>
            </a:r>
            <a:r>
              <a:rPr lang="en-US" altLang="zh-CN"/>
              <a:t>for listening.</a:t>
            </a:r>
            <a:endParaRPr lang="zh-CN" altLang="en-US"/>
          </a:p>
        </p:txBody>
      </p:sp>
      <p:sp>
        <p:nvSpPr>
          <p:cNvPr id="4" name="灯片编号占位符 3"/>
          <p:cNvSpPr>
            <a:spLocks noGrp="1"/>
          </p:cNvSpPr>
          <p:nvPr>
            <p:ph type="sldNum" sz="quarter" idx="5"/>
          </p:nvPr>
        </p:nvSpPr>
        <p:spPr/>
        <p:txBody>
          <a:bodyPr/>
          <a:lstStyle/>
          <a:p>
            <a:fld id="{EFF4B1BE-1167-42C0-B1A0-F673540500A2}" type="slidenum">
              <a:rPr lang="zh-CN" altLang="en-US" smtClean="0"/>
              <a:t>19</a:t>
            </a:fld>
            <a:endParaRPr lang="zh-CN" altLang="en-US"/>
          </a:p>
        </p:txBody>
      </p:sp>
    </p:spTree>
    <p:extLst>
      <p:ext uri="{BB962C8B-B14F-4D97-AF65-F5344CB8AC3E}">
        <p14:creationId xmlns:p14="http://schemas.microsoft.com/office/powerpoint/2010/main" val="18676283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A0BF17-9E03-E5BC-EB87-16E45E4DA57C}"/>
              </a:ext>
            </a:extLst>
          </p:cNvPr>
          <p:cNvSpPr>
            <a:spLocks noGrp="1"/>
          </p:cNvSpPr>
          <p:nvPr>
            <p:ph type="ctrTitle"/>
          </p:nvPr>
        </p:nvSpPr>
        <p:spPr>
          <a:xfrm>
            <a:off x="479501" y="1336791"/>
            <a:ext cx="6389649" cy="2677648"/>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2C9371E9-83C5-B426-C9E3-B963D8092B65}"/>
              </a:ext>
            </a:extLst>
          </p:cNvPr>
          <p:cNvSpPr>
            <a:spLocks noGrp="1"/>
          </p:cNvSpPr>
          <p:nvPr>
            <p:ph type="subTitle" idx="1"/>
          </p:nvPr>
        </p:nvSpPr>
        <p:spPr>
          <a:xfrm>
            <a:off x="479501" y="4404731"/>
            <a:ext cx="6389649" cy="141620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6693C5D2-438F-C369-1867-EDAEE385282B}"/>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dirty="0"/>
          </a:p>
        </p:txBody>
      </p:sp>
      <p:sp>
        <p:nvSpPr>
          <p:cNvPr id="5" name="页脚占位符 4">
            <a:extLst>
              <a:ext uri="{FF2B5EF4-FFF2-40B4-BE49-F238E27FC236}">
                <a16:creationId xmlns:a16="http://schemas.microsoft.com/office/drawing/2014/main" id="{EAFA447A-C46C-127A-D6AA-32246B683CE8}"/>
              </a:ext>
            </a:extLst>
          </p:cNvPr>
          <p:cNvSpPr>
            <a:spLocks noGrp="1"/>
          </p:cNvSpPr>
          <p:nvPr>
            <p:ph type="ftr" sz="quarter" idx="11"/>
          </p:nvPr>
        </p:nvSpPr>
        <p:spPr/>
        <p:txBody>
          <a:bodyPr/>
          <a:lstStyle/>
          <a:p>
            <a:endParaRPr lang="zh-CN" altLang="en-US" dirty="0"/>
          </a:p>
        </p:txBody>
      </p:sp>
      <p:sp>
        <p:nvSpPr>
          <p:cNvPr id="6" name="灯片编号占位符 5">
            <a:extLst>
              <a:ext uri="{FF2B5EF4-FFF2-40B4-BE49-F238E27FC236}">
                <a16:creationId xmlns:a16="http://schemas.microsoft.com/office/drawing/2014/main" id="{1E4E968D-39B3-C9CB-A1A9-E3F933D265B9}"/>
              </a:ext>
            </a:extLst>
          </p:cNvPr>
          <p:cNvSpPr>
            <a:spLocks noGrp="1"/>
          </p:cNvSpPr>
          <p:nvPr>
            <p:ph type="sldNum" sz="quarter" idx="12"/>
          </p:nvPr>
        </p:nvSpPr>
        <p:spPr/>
        <p:txBody>
          <a:bodyPr/>
          <a:lstStyle/>
          <a:p>
            <a:fld id="{9F1D7846-23D0-4C37-ADFB-4140A15237A8}" type="slidenum">
              <a:rPr lang="zh-CN" altLang="en-US" smtClean="0"/>
              <a:t>‹#›</a:t>
            </a:fld>
            <a:endParaRPr lang="zh-CN" altLang="en-US" dirty="0"/>
          </a:p>
        </p:txBody>
      </p:sp>
      <p:pic>
        <p:nvPicPr>
          <p:cNvPr id="8" name="图片 7">
            <a:extLst>
              <a:ext uri="{FF2B5EF4-FFF2-40B4-BE49-F238E27FC236}">
                <a16:creationId xmlns:a16="http://schemas.microsoft.com/office/drawing/2014/main" id="{C64B85D2-E51C-9656-EE36-4C53071DDC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7425" y="308828"/>
            <a:ext cx="1561171" cy="492549"/>
          </a:xfrm>
          <a:prstGeom prst="rect">
            <a:avLst/>
          </a:prstGeom>
        </p:spPr>
      </p:pic>
      <p:pic>
        <p:nvPicPr>
          <p:cNvPr id="10" name="图片 9">
            <a:extLst>
              <a:ext uri="{FF2B5EF4-FFF2-40B4-BE49-F238E27FC236}">
                <a16:creationId xmlns:a16="http://schemas.microsoft.com/office/drawing/2014/main" id="{EC99030B-DAB2-D23E-7AD0-9FC150F05E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603" y="201922"/>
            <a:ext cx="603002" cy="599455"/>
          </a:xfrm>
          <a:prstGeom prst="rect">
            <a:avLst/>
          </a:prstGeom>
        </p:spPr>
      </p:pic>
    </p:spTree>
    <p:extLst>
      <p:ext uri="{BB962C8B-B14F-4D97-AF65-F5344CB8AC3E}">
        <p14:creationId xmlns:p14="http://schemas.microsoft.com/office/powerpoint/2010/main" val="2641230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5D0CE93-B5D9-D5E5-D938-BF089C751FA6}"/>
              </a:ext>
            </a:extLst>
          </p:cNvPr>
          <p:cNvSpPr/>
          <p:nvPr userDrawn="1"/>
        </p:nvSpPr>
        <p:spPr>
          <a:xfrm>
            <a:off x="0" y="0"/>
            <a:ext cx="4404732" cy="6858000"/>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a:extLst>
              <a:ext uri="{FF2B5EF4-FFF2-40B4-BE49-F238E27FC236}">
                <a16:creationId xmlns:a16="http://schemas.microsoft.com/office/drawing/2014/main" id="{6D1CED45-A5FF-A94D-DB68-479D5C26928D}"/>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4" name="页脚占位符 3">
            <a:extLst>
              <a:ext uri="{FF2B5EF4-FFF2-40B4-BE49-F238E27FC236}">
                <a16:creationId xmlns:a16="http://schemas.microsoft.com/office/drawing/2014/main" id="{FE7F8C69-9371-F985-C0A7-70A602D9AD98}"/>
              </a:ext>
            </a:extLst>
          </p:cNvPr>
          <p:cNvSpPr>
            <a:spLocks noGrp="1"/>
          </p:cNvSpPr>
          <p:nvPr>
            <p:ph type="ftr" sz="quarter" idx="11"/>
          </p:nvPr>
        </p:nvSpPr>
        <p:spPr/>
        <p:txBody>
          <a:bodyPr/>
          <a:lstStyle/>
          <a:p>
            <a:endParaRPr lang="zh-CN" altLang="en-US" dirty="0"/>
          </a:p>
        </p:txBody>
      </p:sp>
      <p:sp>
        <p:nvSpPr>
          <p:cNvPr id="5" name="灯片编号占位符 4">
            <a:extLst>
              <a:ext uri="{FF2B5EF4-FFF2-40B4-BE49-F238E27FC236}">
                <a16:creationId xmlns:a16="http://schemas.microsoft.com/office/drawing/2014/main" id="{8A6C5073-FB4F-17C1-6789-4B334C806B08}"/>
              </a:ext>
            </a:extLst>
          </p:cNvPr>
          <p:cNvSpPr>
            <a:spLocks noGrp="1"/>
          </p:cNvSpPr>
          <p:nvPr>
            <p:ph type="sldNum" sz="quarter" idx="12"/>
          </p:nvPr>
        </p:nvSpPr>
        <p:spPr/>
        <p:txBody>
          <a:bodyPr/>
          <a:lstStyle/>
          <a:p>
            <a:fld id="{9F1D7846-23D0-4C37-ADFB-4140A15237A8}" type="slidenum">
              <a:rPr lang="zh-CN" altLang="en-US" smtClean="0"/>
              <a:t>‹#›</a:t>
            </a:fld>
            <a:endParaRPr lang="zh-CN" altLang="en-US" dirty="0"/>
          </a:p>
        </p:txBody>
      </p:sp>
      <p:sp>
        <p:nvSpPr>
          <p:cNvPr id="18" name="表格占位符 17">
            <a:extLst>
              <a:ext uri="{FF2B5EF4-FFF2-40B4-BE49-F238E27FC236}">
                <a16:creationId xmlns:a16="http://schemas.microsoft.com/office/drawing/2014/main" id="{8E17C0D8-62C3-2DBE-3565-BDD39B331D26}"/>
              </a:ext>
            </a:extLst>
          </p:cNvPr>
          <p:cNvSpPr>
            <a:spLocks noGrp="1"/>
          </p:cNvSpPr>
          <p:nvPr>
            <p:ph type="tbl" sz="quarter" idx="13"/>
          </p:nvPr>
        </p:nvSpPr>
        <p:spPr>
          <a:xfrm>
            <a:off x="4763293" y="590550"/>
            <a:ext cx="6967789" cy="5330748"/>
          </a:xfrm>
        </p:spPr>
        <p:txBody>
          <a:bodyPr/>
          <a:lstStyle>
            <a:lvl1pPr>
              <a:buNone/>
              <a:defRPr/>
            </a:lvl1pPr>
          </a:lstStyle>
          <a:p>
            <a:endParaRPr lang="zh-CN" altLang="en-US" dirty="0"/>
          </a:p>
        </p:txBody>
      </p:sp>
      <p:sp>
        <p:nvSpPr>
          <p:cNvPr id="11" name="内容占位符 10">
            <a:extLst>
              <a:ext uri="{FF2B5EF4-FFF2-40B4-BE49-F238E27FC236}">
                <a16:creationId xmlns:a16="http://schemas.microsoft.com/office/drawing/2014/main" id="{A0B14A03-9393-F54A-8601-FEB44321B99A}"/>
              </a:ext>
            </a:extLst>
          </p:cNvPr>
          <p:cNvSpPr>
            <a:spLocks noGrp="1"/>
          </p:cNvSpPr>
          <p:nvPr>
            <p:ph sz="quarter" idx="14" hasCustomPrompt="1"/>
          </p:nvPr>
        </p:nvSpPr>
        <p:spPr>
          <a:xfrm>
            <a:off x="773674" y="2817396"/>
            <a:ext cx="2857384" cy="721558"/>
          </a:xfrm>
        </p:spPr>
        <p:txBody>
          <a:bodyPr/>
          <a:lstStyle>
            <a:lvl1pPr>
              <a:buNone/>
              <a:defRPr sz="4400">
                <a:solidFill>
                  <a:schemeClr val="bg1"/>
                </a:solidFill>
                <a:latin typeface="Noto Serif SC Black" panose="02020200000000000000" pitchFamily="18" charset="-122"/>
                <a:ea typeface="Noto Serif SC Black" panose="02020200000000000000" pitchFamily="18" charset="-122"/>
                <a:cs typeface="Cascadia Mono SemiBold" panose="020B0609020000020004" pitchFamily="49" charset="0"/>
              </a:defRPr>
            </a:lvl1pPr>
          </a:lstStyle>
          <a:p>
            <a:pPr lvl="0"/>
            <a:r>
              <a:rPr lang="en-US" altLang="zh-CN" dirty="0"/>
              <a:t>Contents</a:t>
            </a:r>
            <a:endParaRPr lang="zh-CN" altLang="en-US" dirty="0"/>
          </a:p>
        </p:txBody>
      </p:sp>
    </p:spTree>
    <p:extLst>
      <p:ext uri="{BB962C8B-B14F-4D97-AF65-F5344CB8AC3E}">
        <p14:creationId xmlns:p14="http://schemas.microsoft.com/office/powerpoint/2010/main" val="4262828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51D46D5-89AE-F1CC-83FA-3896763A7CF0}"/>
              </a:ext>
            </a:extLst>
          </p:cNvPr>
          <p:cNvSpPr/>
          <p:nvPr userDrawn="1"/>
        </p:nvSpPr>
        <p:spPr>
          <a:xfrm>
            <a:off x="0" y="0"/>
            <a:ext cx="12192000" cy="1349298"/>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B488F4D-2B6F-9312-A585-A3DFD4F609F4}"/>
              </a:ext>
            </a:extLst>
          </p:cNvPr>
          <p:cNvSpPr>
            <a:spLocks noGrp="1"/>
          </p:cNvSpPr>
          <p:nvPr>
            <p:ph type="title"/>
          </p:nvPr>
        </p:nvSpPr>
        <p:spPr>
          <a:xfrm>
            <a:off x="347546" y="211564"/>
            <a:ext cx="10515600" cy="917265"/>
          </a:xfrm>
        </p:spPr>
        <p:txBody>
          <a:bodyPr/>
          <a:lstStyle>
            <a:lvl1pPr>
              <a:defRPr b="1">
                <a:solidFill>
                  <a:schemeClr val="bg1"/>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B7366BE7-E7C9-A885-7C46-AA6FEDE5344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D71C32-A875-D45C-5530-BF8B661D3520}"/>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5" name="页脚占位符 4">
            <a:extLst>
              <a:ext uri="{FF2B5EF4-FFF2-40B4-BE49-F238E27FC236}">
                <a16:creationId xmlns:a16="http://schemas.microsoft.com/office/drawing/2014/main" id="{BD173B35-5D8D-8A0F-E521-B09EDBAAF2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0372C8-7E9B-B96F-055F-DE6F96489BFC}"/>
              </a:ext>
            </a:extLst>
          </p:cNvPr>
          <p:cNvSpPr>
            <a:spLocks noGrp="1"/>
          </p:cNvSpPr>
          <p:nvPr>
            <p:ph type="sldNum" sz="quarter" idx="12"/>
          </p:nvPr>
        </p:nvSpPr>
        <p:spPr/>
        <p:txBody>
          <a:bodyPr/>
          <a:lstStyle/>
          <a:p>
            <a:fld id="{9F1D7846-23D0-4C37-ADFB-4140A15237A8}" type="slidenum">
              <a:rPr lang="zh-CN" altLang="en-US" smtClean="0"/>
              <a:t>‹#›</a:t>
            </a:fld>
            <a:endParaRPr lang="zh-CN" altLang="en-US" dirty="0"/>
          </a:p>
        </p:txBody>
      </p:sp>
    </p:spTree>
    <p:extLst>
      <p:ext uri="{BB962C8B-B14F-4D97-AF65-F5344CB8AC3E}">
        <p14:creationId xmlns:p14="http://schemas.microsoft.com/office/powerpoint/2010/main" val="178512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800A393-5E35-4AA2-21FA-2A2847EA7F3C}"/>
              </a:ext>
            </a:extLst>
          </p:cNvPr>
          <p:cNvSpPr/>
          <p:nvPr userDrawn="1"/>
        </p:nvSpPr>
        <p:spPr>
          <a:xfrm>
            <a:off x="0" y="0"/>
            <a:ext cx="4404732" cy="6858000"/>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3825E184-E7BD-B055-25CF-0CEC1D7AAE8F}"/>
              </a:ext>
            </a:extLst>
          </p:cNvPr>
          <p:cNvSpPr>
            <a:spLocks noGrp="1"/>
          </p:cNvSpPr>
          <p:nvPr>
            <p:ph type="body" idx="1"/>
          </p:nvPr>
        </p:nvSpPr>
        <p:spPr>
          <a:xfrm>
            <a:off x="831850" y="4438185"/>
            <a:ext cx="2749550" cy="165146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a:extLst>
              <a:ext uri="{FF2B5EF4-FFF2-40B4-BE49-F238E27FC236}">
                <a16:creationId xmlns:a16="http://schemas.microsoft.com/office/drawing/2014/main" id="{90899EFB-72E1-1CD9-5BF3-B57876565CAE}"/>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5" name="页脚占位符 4">
            <a:extLst>
              <a:ext uri="{FF2B5EF4-FFF2-40B4-BE49-F238E27FC236}">
                <a16:creationId xmlns:a16="http://schemas.microsoft.com/office/drawing/2014/main" id="{1797BD0C-32EC-2B6C-7B3F-518D1151E71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F0F592-E8F0-E384-7E55-72FE3C13DE16}"/>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pic>
        <p:nvPicPr>
          <p:cNvPr id="10" name="图片 9">
            <a:extLst>
              <a:ext uri="{FF2B5EF4-FFF2-40B4-BE49-F238E27FC236}">
                <a16:creationId xmlns:a16="http://schemas.microsoft.com/office/drawing/2014/main" id="{B42A1254-F3B6-DADE-5D30-4660D5226B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20899" y="136526"/>
            <a:ext cx="625437" cy="621758"/>
          </a:xfrm>
          <a:prstGeom prst="rect">
            <a:avLst/>
          </a:prstGeom>
        </p:spPr>
      </p:pic>
      <p:sp>
        <p:nvSpPr>
          <p:cNvPr id="17" name="文本占位符 14">
            <a:extLst>
              <a:ext uri="{FF2B5EF4-FFF2-40B4-BE49-F238E27FC236}">
                <a16:creationId xmlns:a16="http://schemas.microsoft.com/office/drawing/2014/main" id="{E3DCCB47-F5E7-2895-620F-D081E9E2061F}"/>
              </a:ext>
            </a:extLst>
          </p:cNvPr>
          <p:cNvSpPr>
            <a:spLocks noGrp="1"/>
          </p:cNvSpPr>
          <p:nvPr>
            <p:ph type="body" sz="quarter" idx="14" hasCustomPrompt="1"/>
          </p:nvPr>
        </p:nvSpPr>
        <p:spPr>
          <a:xfrm>
            <a:off x="1737360" y="3028339"/>
            <a:ext cx="944880" cy="801322"/>
          </a:xfrm>
        </p:spPr>
        <p:txBody>
          <a:bodyPr/>
          <a:lstStyle>
            <a:lvl1pPr algn="l">
              <a:buNone/>
              <a:defRPr sz="4400" b="0">
                <a:solidFill>
                  <a:schemeClr val="bg1"/>
                </a:solidFill>
                <a:latin typeface="Noto Serif SC Black" panose="02020200000000000000" pitchFamily="18" charset="-122"/>
                <a:ea typeface="Noto Serif SC Black" panose="02020200000000000000" pitchFamily="18" charset="-122"/>
              </a:defRPr>
            </a:lvl1pPr>
            <a:lvl2pPr>
              <a:buNone/>
              <a:defRPr/>
            </a:lvl2pPr>
          </a:lstStyle>
          <a:p>
            <a:pPr lvl="0"/>
            <a:r>
              <a:rPr lang="en-US" altLang="zh-CN" dirty="0"/>
              <a:t>01</a:t>
            </a:r>
            <a:endParaRPr lang="zh-CN" altLang="en-US" dirty="0"/>
          </a:p>
        </p:txBody>
      </p:sp>
      <p:sp>
        <p:nvSpPr>
          <p:cNvPr id="21" name="标题 1">
            <a:extLst>
              <a:ext uri="{FF2B5EF4-FFF2-40B4-BE49-F238E27FC236}">
                <a16:creationId xmlns:a16="http://schemas.microsoft.com/office/drawing/2014/main" id="{0A4A9E7F-2605-1433-3C2F-D8082DF4E6CD}"/>
              </a:ext>
            </a:extLst>
          </p:cNvPr>
          <p:cNvSpPr>
            <a:spLocks noGrp="1"/>
          </p:cNvSpPr>
          <p:nvPr>
            <p:ph type="title" hasCustomPrompt="1"/>
          </p:nvPr>
        </p:nvSpPr>
        <p:spPr>
          <a:xfrm>
            <a:off x="4681218" y="1189831"/>
            <a:ext cx="7106920" cy="1325563"/>
          </a:xfrm>
        </p:spPr>
        <p:txBody>
          <a:bodyPr/>
          <a:lstStyle>
            <a:lvl1pPr algn="ctr">
              <a:defRPr/>
            </a:lvl1pPr>
          </a:lstStyle>
          <a:p>
            <a:r>
              <a:rPr lang="en-US" altLang="zh-CN" dirty="0"/>
              <a:t>Section Title</a:t>
            </a:r>
            <a:endParaRPr lang="zh-CN" altLang="en-US" dirty="0"/>
          </a:p>
        </p:txBody>
      </p:sp>
      <p:sp>
        <p:nvSpPr>
          <p:cNvPr id="22" name="内容占位符 8">
            <a:extLst>
              <a:ext uri="{FF2B5EF4-FFF2-40B4-BE49-F238E27FC236}">
                <a16:creationId xmlns:a16="http://schemas.microsoft.com/office/drawing/2014/main" id="{A6D5B642-6889-2870-C6B8-8D3003056783}"/>
              </a:ext>
            </a:extLst>
          </p:cNvPr>
          <p:cNvSpPr>
            <a:spLocks noGrp="1"/>
          </p:cNvSpPr>
          <p:nvPr>
            <p:ph sz="quarter" idx="15"/>
          </p:nvPr>
        </p:nvSpPr>
        <p:spPr>
          <a:xfrm>
            <a:off x="4988560" y="2967038"/>
            <a:ext cx="6800215" cy="294640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1666113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BD72F94-984D-CB94-D996-04AFD809125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3C71E34-B2E3-4B5B-CAE0-C25E543F876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8271183-7432-7973-3C51-5874E0F627B0}"/>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6" name="页脚占位符 5">
            <a:extLst>
              <a:ext uri="{FF2B5EF4-FFF2-40B4-BE49-F238E27FC236}">
                <a16:creationId xmlns:a16="http://schemas.microsoft.com/office/drawing/2014/main" id="{AC4C8013-6339-8F04-FA07-4CCCAB6D4C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215478-B000-14D6-7589-9D4A461A714E}"/>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
        <p:nvSpPr>
          <p:cNvPr id="9" name="矩形 8">
            <a:extLst>
              <a:ext uri="{FF2B5EF4-FFF2-40B4-BE49-F238E27FC236}">
                <a16:creationId xmlns:a16="http://schemas.microsoft.com/office/drawing/2014/main" id="{A41876C1-0811-1014-E052-7AB8D09729CB}"/>
              </a:ext>
            </a:extLst>
          </p:cNvPr>
          <p:cNvSpPr/>
          <p:nvPr userDrawn="1"/>
        </p:nvSpPr>
        <p:spPr>
          <a:xfrm>
            <a:off x="0" y="0"/>
            <a:ext cx="12192000" cy="1349298"/>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a:extLst>
              <a:ext uri="{FF2B5EF4-FFF2-40B4-BE49-F238E27FC236}">
                <a16:creationId xmlns:a16="http://schemas.microsoft.com/office/drawing/2014/main" id="{F6AC4971-A5F3-3C66-766E-CD062E9F7432}"/>
              </a:ext>
            </a:extLst>
          </p:cNvPr>
          <p:cNvSpPr>
            <a:spLocks noGrp="1"/>
          </p:cNvSpPr>
          <p:nvPr>
            <p:ph type="title"/>
          </p:nvPr>
        </p:nvSpPr>
        <p:spPr>
          <a:xfrm>
            <a:off x="347546" y="211564"/>
            <a:ext cx="10515600" cy="917265"/>
          </a:xfrm>
        </p:spPr>
        <p:txBody>
          <a:bodyPr/>
          <a:lstStyle>
            <a:lvl1pPr>
              <a:defRPr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297887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49A9EFC-DCE1-E59C-44C2-9A1D768DF2D4}"/>
              </a:ext>
            </a:extLst>
          </p:cNvPr>
          <p:cNvSpPr>
            <a:spLocks noGrp="1"/>
          </p:cNvSpPr>
          <p:nvPr>
            <p:ph type="body" idx="1"/>
          </p:nvPr>
        </p:nvSpPr>
        <p:spPr>
          <a:xfrm>
            <a:off x="836612" y="1560861"/>
            <a:ext cx="5157787" cy="823913"/>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a:extLst>
              <a:ext uri="{FF2B5EF4-FFF2-40B4-BE49-F238E27FC236}">
                <a16:creationId xmlns:a16="http://schemas.microsoft.com/office/drawing/2014/main" id="{57067AC5-E0CA-3C17-C900-95AFBD7CB632}"/>
              </a:ext>
            </a:extLst>
          </p:cNvPr>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文本占位符 4">
            <a:extLst>
              <a:ext uri="{FF2B5EF4-FFF2-40B4-BE49-F238E27FC236}">
                <a16:creationId xmlns:a16="http://schemas.microsoft.com/office/drawing/2014/main" id="{EAFCA5B3-0547-3D1E-9772-09F1CF2FE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88D32FD-B346-A8C9-0E80-1EC526E8615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04544BC-73B5-D190-3710-0568D2FE13EF}"/>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8" name="页脚占位符 7">
            <a:extLst>
              <a:ext uri="{FF2B5EF4-FFF2-40B4-BE49-F238E27FC236}">
                <a16:creationId xmlns:a16="http://schemas.microsoft.com/office/drawing/2014/main" id="{9CF711AB-DDBD-2AA6-B220-5C059C96450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23469B6-78BF-105C-DA5A-96281EB6FF13}"/>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
        <p:nvSpPr>
          <p:cNvPr id="12" name="矩形 11">
            <a:extLst>
              <a:ext uri="{FF2B5EF4-FFF2-40B4-BE49-F238E27FC236}">
                <a16:creationId xmlns:a16="http://schemas.microsoft.com/office/drawing/2014/main" id="{93457876-8B70-8838-43DD-87AC0D1025C4}"/>
              </a:ext>
            </a:extLst>
          </p:cNvPr>
          <p:cNvSpPr/>
          <p:nvPr userDrawn="1"/>
        </p:nvSpPr>
        <p:spPr>
          <a:xfrm>
            <a:off x="0" y="0"/>
            <a:ext cx="12192000" cy="1349298"/>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a:extLst>
              <a:ext uri="{FF2B5EF4-FFF2-40B4-BE49-F238E27FC236}">
                <a16:creationId xmlns:a16="http://schemas.microsoft.com/office/drawing/2014/main" id="{BC7EE045-83A6-21DD-1267-73DC53B771BD}"/>
              </a:ext>
            </a:extLst>
          </p:cNvPr>
          <p:cNvSpPr>
            <a:spLocks noGrp="1"/>
          </p:cNvSpPr>
          <p:nvPr>
            <p:ph type="title"/>
          </p:nvPr>
        </p:nvSpPr>
        <p:spPr>
          <a:xfrm>
            <a:off x="347546" y="211564"/>
            <a:ext cx="10515600" cy="917265"/>
          </a:xfrm>
        </p:spPr>
        <p:txBody>
          <a:bodyPr/>
          <a:lstStyle>
            <a:lvl1pPr>
              <a:defRPr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3985414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8FE521A0-86A2-9E0B-DF02-A442BAFCDF78}"/>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4" name="页脚占位符 3">
            <a:extLst>
              <a:ext uri="{FF2B5EF4-FFF2-40B4-BE49-F238E27FC236}">
                <a16:creationId xmlns:a16="http://schemas.microsoft.com/office/drawing/2014/main" id="{FE4CC939-C398-37DA-5463-E8E5467A574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A89218F-211A-92E2-D225-28DC85F16F25}"/>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
        <p:nvSpPr>
          <p:cNvPr id="6" name="矩形 5">
            <a:extLst>
              <a:ext uri="{FF2B5EF4-FFF2-40B4-BE49-F238E27FC236}">
                <a16:creationId xmlns:a16="http://schemas.microsoft.com/office/drawing/2014/main" id="{B0696E77-4E9F-E92A-3457-76D9AF0AC42E}"/>
              </a:ext>
            </a:extLst>
          </p:cNvPr>
          <p:cNvSpPr/>
          <p:nvPr userDrawn="1"/>
        </p:nvSpPr>
        <p:spPr>
          <a:xfrm>
            <a:off x="0" y="0"/>
            <a:ext cx="12192000" cy="1349298"/>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E9BA416D-E8FF-E2FE-A28F-BCD7811AF0BE}"/>
              </a:ext>
            </a:extLst>
          </p:cNvPr>
          <p:cNvSpPr>
            <a:spLocks noGrp="1"/>
          </p:cNvSpPr>
          <p:nvPr>
            <p:ph type="title"/>
          </p:nvPr>
        </p:nvSpPr>
        <p:spPr>
          <a:xfrm>
            <a:off x="347546" y="211564"/>
            <a:ext cx="10515600" cy="917265"/>
          </a:xfrm>
        </p:spPr>
        <p:txBody>
          <a:bodyPr/>
          <a:lstStyle>
            <a:lvl1pPr>
              <a:defRPr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3759940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765D4D37-0C04-8535-733E-88A5151A7D4A}"/>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4" name="页脚占位符 3">
            <a:extLst>
              <a:ext uri="{FF2B5EF4-FFF2-40B4-BE49-F238E27FC236}">
                <a16:creationId xmlns:a16="http://schemas.microsoft.com/office/drawing/2014/main" id="{96D7A964-AE3F-8225-BB23-E0DDCB9B155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3E0721F-C923-871A-6045-5C67BEC06D8B}"/>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
        <p:nvSpPr>
          <p:cNvPr id="7" name="矩形 6">
            <a:extLst>
              <a:ext uri="{FF2B5EF4-FFF2-40B4-BE49-F238E27FC236}">
                <a16:creationId xmlns:a16="http://schemas.microsoft.com/office/drawing/2014/main" id="{5E1B9140-0733-D5BD-8A80-28941160A4B1}"/>
              </a:ext>
            </a:extLst>
          </p:cNvPr>
          <p:cNvSpPr/>
          <p:nvPr userDrawn="1"/>
        </p:nvSpPr>
        <p:spPr>
          <a:xfrm>
            <a:off x="0" y="0"/>
            <a:ext cx="12192000" cy="6858000"/>
          </a:xfrm>
          <a:prstGeom prst="rect">
            <a:avLst/>
          </a:prstGeom>
          <a:solidFill>
            <a:srgbClr val="562E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7">
            <a:extLst>
              <a:ext uri="{FF2B5EF4-FFF2-40B4-BE49-F238E27FC236}">
                <a16:creationId xmlns:a16="http://schemas.microsoft.com/office/drawing/2014/main" id="{6820036B-8926-5EAD-B5C9-2FB28C13CCB9}"/>
              </a:ext>
            </a:extLst>
          </p:cNvPr>
          <p:cNvSpPr>
            <a:spLocks noGrp="1"/>
          </p:cNvSpPr>
          <p:nvPr>
            <p:ph sz="quarter" idx="13"/>
          </p:nvPr>
        </p:nvSpPr>
        <p:spPr>
          <a:xfrm>
            <a:off x="3200400" y="2281237"/>
            <a:ext cx="5791200" cy="2295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999983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752D14-D5CD-687A-BC32-66DA69E9525F}"/>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3" name="页脚占位符 2">
            <a:extLst>
              <a:ext uri="{FF2B5EF4-FFF2-40B4-BE49-F238E27FC236}">
                <a16:creationId xmlns:a16="http://schemas.microsoft.com/office/drawing/2014/main" id="{6FC983B2-650A-C2CA-9263-8B6EB7F4025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3A8DE27-5572-5D3D-F53C-D8B15E74554F}"/>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3963670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B20FB-D55F-3980-64EE-695A49021B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64F06A2-15D9-B4F9-724F-A36FA483A0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F670E3-186F-DEAF-A0E0-96176FC80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F9E1CE7-513F-2BE4-FC3F-C7B17FBAD645}"/>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6" name="页脚占位符 5">
            <a:extLst>
              <a:ext uri="{FF2B5EF4-FFF2-40B4-BE49-F238E27FC236}">
                <a16:creationId xmlns:a16="http://schemas.microsoft.com/office/drawing/2014/main" id="{5B17D265-65AF-3806-0133-C770B7621B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1EC958-CE26-376A-53E8-C0C37C6E1D43}"/>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343741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A0DBAE-DDA3-14D6-0842-49A58DFC7A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A73E357-D077-346E-64B3-14297AF408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FB396D5-1EC2-A0D0-6552-21AAD4A4A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D4FF18-250A-335D-3A05-B9E0D4AA91B1}"/>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6" name="页脚占位符 5">
            <a:extLst>
              <a:ext uri="{FF2B5EF4-FFF2-40B4-BE49-F238E27FC236}">
                <a16:creationId xmlns:a16="http://schemas.microsoft.com/office/drawing/2014/main" id="{628BA51F-4412-9511-068F-0A8D0AFBBAD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2B2354-810B-B424-D105-BBE3A8B914D3}"/>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3893724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A69494-0D2C-366E-29BF-EF5A534AE2B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6C5FFB7-BF5F-785C-F13B-610E279D84C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11C02F4-CCFA-0626-6F8F-DC2DE0136674}"/>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5" name="页脚占位符 4">
            <a:extLst>
              <a:ext uri="{FF2B5EF4-FFF2-40B4-BE49-F238E27FC236}">
                <a16:creationId xmlns:a16="http://schemas.microsoft.com/office/drawing/2014/main" id="{D84DF43D-8233-BE8F-3218-2FDC0C69D1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74D19E-AFC1-0A98-06B4-D8A98B6A3B0E}"/>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542323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D2348D-6515-6A64-DF96-76E3EC61090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C03B2F2-FCB9-C6DF-095F-0C8EFCB90C9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BF1AA6-2C81-920F-5ADA-02659E2BF469}"/>
              </a:ext>
            </a:extLst>
          </p:cNvPr>
          <p:cNvSpPr>
            <a:spLocks noGrp="1"/>
          </p:cNvSpPr>
          <p:nvPr>
            <p:ph type="dt" sz="half" idx="10"/>
          </p:nvPr>
        </p:nvSpPr>
        <p:spPr/>
        <p:txBody>
          <a:bodyPr/>
          <a:lstStyle/>
          <a:p>
            <a:fld id="{CD759235-AB21-4573-8877-6F974DD076F2}" type="datetimeFigureOut">
              <a:rPr lang="zh-CN" altLang="en-US" smtClean="0"/>
              <a:t>2026/3/4</a:t>
            </a:fld>
            <a:endParaRPr lang="zh-CN" altLang="en-US"/>
          </a:p>
        </p:txBody>
      </p:sp>
      <p:sp>
        <p:nvSpPr>
          <p:cNvPr id="5" name="页脚占位符 4">
            <a:extLst>
              <a:ext uri="{FF2B5EF4-FFF2-40B4-BE49-F238E27FC236}">
                <a16:creationId xmlns:a16="http://schemas.microsoft.com/office/drawing/2014/main" id="{1C19F2DF-1BB4-F4F2-20A1-CAEF17CF41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DBE9B0-071F-43B5-3C70-5CDD941EA70B}"/>
              </a:ext>
            </a:extLst>
          </p:cNvPr>
          <p:cNvSpPr>
            <a:spLocks noGrp="1"/>
          </p:cNvSpPr>
          <p:nvPr>
            <p:ph type="sldNum" sz="quarter" idx="12"/>
          </p:nvPr>
        </p:nvSpPr>
        <p:spPr/>
        <p:txBody>
          <a:body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3342705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36F243D-DFF1-06A3-DE20-46E1CC1A7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20F1B05-D8F4-9B45-C62A-5A4DFDB1E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312142-48C4-8E2A-117A-EE19DF7E8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759235-AB21-4573-8877-6F974DD076F2}" type="datetimeFigureOut">
              <a:rPr lang="zh-CN" altLang="en-US" smtClean="0"/>
              <a:t>2026/3/4</a:t>
            </a:fld>
            <a:endParaRPr lang="zh-CN" altLang="en-US"/>
          </a:p>
        </p:txBody>
      </p:sp>
      <p:sp>
        <p:nvSpPr>
          <p:cNvPr id="5" name="页脚占位符 4">
            <a:extLst>
              <a:ext uri="{FF2B5EF4-FFF2-40B4-BE49-F238E27FC236}">
                <a16:creationId xmlns:a16="http://schemas.microsoft.com/office/drawing/2014/main" id="{739068B0-F68B-6C2E-7684-252077E1BD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9903777-5867-52C7-0CB8-804D3155A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1D7846-23D0-4C37-ADFB-4140A15237A8}" type="slidenum">
              <a:rPr lang="zh-CN" altLang="en-US" smtClean="0"/>
              <a:t>‹#›</a:t>
            </a:fld>
            <a:endParaRPr lang="zh-CN" altLang="en-US"/>
          </a:p>
        </p:txBody>
      </p:sp>
    </p:spTree>
    <p:extLst>
      <p:ext uri="{BB962C8B-B14F-4D97-AF65-F5344CB8AC3E}">
        <p14:creationId xmlns:p14="http://schemas.microsoft.com/office/powerpoint/2010/main" val="281315978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61"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51569-FF45-A72D-15F5-1E2EAAE8879F}"/>
              </a:ext>
            </a:extLst>
          </p:cNvPr>
          <p:cNvSpPr>
            <a:spLocks noGrp="1"/>
          </p:cNvSpPr>
          <p:nvPr>
            <p:ph type="ctrTitle"/>
          </p:nvPr>
        </p:nvSpPr>
        <p:spPr>
          <a:xfrm>
            <a:off x="2844779" y="2647882"/>
            <a:ext cx="5600568" cy="1118839"/>
          </a:xfrm>
        </p:spPr>
        <p:txBody>
          <a:bodyPr>
            <a:normAutofit/>
          </a:bodyPr>
          <a:lstStyle/>
          <a:p>
            <a:r>
              <a:rPr lang="en-US" altLang="zh-CN" dirty="0"/>
              <a:t>Arithmetic LLM</a:t>
            </a:r>
            <a:endParaRPr lang="zh-CN" altLang="en-US" dirty="0"/>
          </a:p>
        </p:txBody>
      </p:sp>
      <p:sp>
        <p:nvSpPr>
          <p:cNvPr id="3" name="副标题 2">
            <a:extLst>
              <a:ext uri="{FF2B5EF4-FFF2-40B4-BE49-F238E27FC236}">
                <a16:creationId xmlns:a16="http://schemas.microsoft.com/office/drawing/2014/main" id="{9A498497-CBD9-BED1-45BF-5BA720BE872B}"/>
              </a:ext>
            </a:extLst>
          </p:cNvPr>
          <p:cNvSpPr>
            <a:spLocks noGrp="1"/>
          </p:cNvSpPr>
          <p:nvPr>
            <p:ph type="subTitle" idx="1"/>
          </p:nvPr>
        </p:nvSpPr>
        <p:spPr>
          <a:xfrm>
            <a:off x="4909457" y="4099931"/>
            <a:ext cx="6868621" cy="646240"/>
          </a:xfrm>
        </p:spPr>
        <p:txBody>
          <a:bodyPr>
            <a:noAutofit/>
          </a:bodyPr>
          <a:lstStyle/>
          <a:p>
            <a:r>
              <a:rPr lang="en-US" altLang="zh-CN" sz="2800" dirty="0"/>
              <a:t>—— Distributed Version Based on Accelerate</a:t>
            </a:r>
            <a:endParaRPr lang="zh-CN" altLang="en-US" sz="2800" dirty="0"/>
          </a:p>
        </p:txBody>
      </p:sp>
      <p:sp>
        <p:nvSpPr>
          <p:cNvPr id="4" name="文本框 3">
            <a:extLst>
              <a:ext uri="{FF2B5EF4-FFF2-40B4-BE49-F238E27FC236}">
                <a16:creationId xmlns:a16="http://schemas.microsoft.com/office/drawing/2014/main" id="{0BE7AF3B-63CA-65A9-BA51-35DB43ADDB0B}"/>
              </a:ext>
            </a:extLst>
          </p:cNvPr>
          <p:cNvSpPr txBox="1"/>
          <p:nvPr/>
        </p:nvSpPr>
        <p:spPr>
          <a:xfrm>
            <a:off x="9056914" y="5638800"/>
            <a:ext cx="2569028" cy="400110"/>
          </a:xfrm>
          <a:prstGeom prst="rect">
            <a:avLst/>
          </a:prstGeom>
          <a:noFill/>
        </p:spPr>
        <p:txBody>
          <a:bodyPr wrap="square" rtlCol="0">
            <a:spAutoFit/>
          </a:bodyPr>
          <a:lstStyle/>
          <a:p>
            <a:r>
              <a:rPr lang="en-US" altLang="zh-CN" sz="2000" dirty="0"/>
              <a:t>Author: Yizhou Tian</a:t>
            </a:r>
            <a:endParaRPr lang="zh-CN" altLang="en-US" sz="2000" dirty="0"/>
          </a:p>
        </p:txBody>
      </p:sp>
    </p:spTree>
    <p:extLst>
      <p:ext uri="{BB962C8B-B14F-4D97-AF65-F5344CB8AC3E}">
        <p14:creationId xmlns:p14="http://schemas.microsoft.com/office/powerpoint/2010/main" val="1114447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占位符 3">
            <a:extLst>
              <a:ext uri="{FF2B5EF4-FFF2-40B4-BE49-F238E27FC236}">
                <a16:creationId xmlns:a16="http://schemas.microsoft.com/office/drawing/2014/main" id="{97F42939-C626-1A74-BB7D-45701E4465ED}"/>
              </a:ext>
            </a:extLst>
          </p:cNvPr>
          <p:cNvGraphicFramePr>
            <a:graphicFrameLocks noGrp="1"/>
          </p:cNvGraphicFramePr>
          <p:nvPr>
            <p:ph type="tbl" sz="quarter" idx="13"/>
            <p:extLst>
              <p:ext uri="{D42A27DB-BD31-4B8C-83A1-F6EECF244321}">
                <p14:modId xmlns:p14="http://schemas.microsoft.com/office/powerpoint/2010/main" val="1373528048"/>
              </p:ext>
            </p:extLst>
          </p:nvPr>
        </p:nvGraphicFramePr>
        <p:xfrm>
          <a:off x="4870442" y="1399634"/>
          <a:ext cx="7321558" cy="4058732"/>
        </p:xfrm>
        <a:graphic>
          <a:graphicData uri="http://schemas.openxmlformats.org/drawingml/2006/table">
            <a:tbl>
              <a:tblPr bandRow="1">
                <a:tableStyleId>{5C22544A-7EE6-4342-B048-85BDC9FD1C3A}</a:tableStyleId>
              </a:tblPr>
              <a:tblGrid>
                <a:gridCol w="913094">
                  <a:extLst>
                    <a:ext uri="{9D8B030D-6E8A-4147-A177-3AD203B41FA5}">
                      <a16:colId xmlns:a16="http://schemas.microsoft.com/office/drawing/2014/main" val="710162908"/>
                    </a:ext>
                  </a:extLst>
                </a:gridCol>
                <a:gridCol w="371391">
                  <a:extLst>
                    <a:ext uri="{9D8B030D-6E8A-4147-A177-3AD203B41FA5}">
                      <a16:colId xmlns:a16="http://schemas.microsoft.com/office/drawing/2014/main" val="1160979719"/>
                    </a:ext>
                  </a:extLst>
                </a:gridCol>
                <a:gridCol w="6037073">
                  <a:extLst>
                    <a:ext uri="{9D8B030D-6E8A-4147-A177-3AD203B41FA5}">
                      <a16:colId xmlns:a16="http://schemas.microsoft.com/office/drawing/2014/main" val="3205828522"/>
                    </a:ext>
                  </a:extLst>
                </a:gridCol>
              </a:tblGrid>
              <a:tr h="1014683">
                <a:tc>
                  <a:txBody>
                    <a:bodyPr/>
                    <a:lstStyle/>
                    <a:p>
                      <a:pPr algn="ctr"/>
                      <a:r>
                        <a:rPr lang="en-US" altLang="zh-CN" sz="3300" dirty="0">
                          <a:latin typeface="Artifakt Element Black" panose="020B0A03050000020004" pitchFamily="34" charset="0"/>
                          <a:ea typeface="Artifakt Element Black" panose="020B0A03050000020004" pitchFamily="34" charset="0"/>
                        </a:rPr>
                        <a:t>01</a:t>
                      </a:r>
                      <a:endParaRPr lang="zh-CN" altLang="en-US" sz="3300" dirty="0">
                        <a:latin typeface="Artifakt Element Black" panose="020B0A03050000020004" pitchFamily="34" charset="0"/>
                      </a:endParaRPr>
                    </a:p>
                  </a:txBody>
                  <a:tcPr marL="95056" marR="95056" marT="47528" marB="47528" anchor="b">
                    <a:lnL w="12700" cmpd="sng">
                      <a:noFill/>
                    </a:lnL>
                    <a:lnR w="12700" cmpd="sng">
                      <a:noFill/>
                    </a:lnR>
                    <a:lnT w="12700" cmpd="sng">
                      <a:noFill/>
                    </a:lnT>
                    <a:lnB w="571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900" dirty="0"/>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altLang="zh-CN" sz="2800" dirty="0">
                          <a:latin typeface="Artifakt Element Black" panose="020B0A03050000020004" pitchFamily="34" charset="0"/>
                          <a:ea typeface="Artifakt Element Black" panose="020B0A03050000020004" pitchFamily="34" charset="0"/>
                        </a:rPr>
                        <a:t>Project Introduction</a:t>
                      </a:r>
                      <a:endParaRPr lang="zh-CN" altLang="en-US" sz="2800" dirty="0">
                        <a:latin typeface="Artifakt Element Black" panose="020B0A03050000020004" pitchFamily="34" charset="0"/>
                        <a:ea typeface="Noto Serif SC Black" panose="02020200000000000000" pitchFamily="18" charset="-122"/>
                      </a:endParaRPr>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22179147"/>
                  </a:ext>
                </a:extLst>
              </a:tr>
              <a:tr h="1014683">
                <a:tc>
                  <a:txBody>
                    <a:bodyPr/>
                    <a:lstStyle/>
                    <a:p>
                      <a:pPr algn="ctr"/>
                      <a:r>
                        <a:rPr lang="en-US" altLang="zh-CN" sz="3300" dirty="0">
                          <a:latin typeface="Artifakt Element Black" panose="020B0A03050000020004" pitchFamily="34" charset="0"/>
                        </a:rPr>
                        <a:t>02</a:t>
                      </a:r>
                      <a:endParaRPr lang="zh-CN" altLang="en-US" sz="3300" dirty="0">
                        <a:latin typeface="Artifakt Element Black" panose="020B0A03050000020004" pitchFamily="34" charset="0"/>
                      </a:endParaRPr>
                    </a:p>
                  </a:txBody>
                  <a:tcPr marL="95056" marR="95056" marT="47528" marB="47528" anchor="b">
                    <a:lnL w="12700" cmpd="sng">
                      <a:noFill/>
                    </a:lnL>
                    <a:lnR w="12700" cmpd="sng">
                      <a:noFill/>
                    </a:lnR>
                    <a:lnT w="57150" cap="flat" cmpd="sng" algn="ctr">
                      <a:solidFill>
                        <a:schemeClr val="bg2">
                          <a:lumMod val="75000"/>
                        </a:schemeClr>
                      </a:solidFill>
                      <a:prstDash val="solid"/>
                      <a:round/>
                      <a:headEnd type="none" w="med" len="med"/>
                      <a:tailEnd type="none" w="med" len="med"/>
                    </a:lnT>
                    <a:lnB w="571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900" dirty="0"/>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altLang="zh-CN" sz="2800" dirty="0">
                          <a:latin typeface="Artifakt Element Black" panose="020B0A03050000020004" pitchFamily="34" charset="0"/>
                          <a:ea typeface="Artifakt Element Black" panose="020B0A03050000020004" pitchFamily="34" charset="0"/>
                        </a:rPr>
                        <a:t>Reconstruction</a:t>
                      </a:r>
                      <a:endParaRPr lang="zh-CN" altLang="en-US" sz="2800" dirty="0">
                        <a:latin typeface="Artifakt Element Black" panose="020B0A03050000020004" pitchFamily="34" charset="0"/>
                        <a:ea typeface="Noto Serif SC Black" panose="02020200000000000000" pitchFamily="18" charset="-122"/>
                      </a:endParaRPr>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9423519"/>
                  </a:ext>
                </a:extLst>
              </a:tr>
              <a:tr h="1014683">
                <a:tc>
                  <a:txBody>
                    <a:bodyPr/>
                    <a:lstStyle/>
                    <a:p>
                      <a:pPr algn="ctr"/>
                      <a:r>
                        <a:rPr lang="en-US" altLang="zh-CN" sz="3300" dirty="0">
                          <a:latin typeface="Artifakt Element Black" panose="020B0A03050000020004" pitchFamily="34" charset="0"/>
                        </a:rPr>
                        <a:t>03</a:t>
                      </a:r>
                      <a:endParaRPr lang="zh-CN" altLang="en-US" sz="3300" dirty="0">
                        <a:latin typeface="Artifakt Element Black" panose="020B0A03050000020004" pitchFamily="34" charset="0"/>
                      </a:endParaRPr>
                    </a:p>
                  </a:txBody>
                  <a:tcPr marL="95056" marR="95056" marT="47528" marB="47528" anchor="b">
                    <a:lnL w="12700" cmpd="sng">
                      <a:noFill/>
                    </a:lnL>
                    <a:lnR w="12700" cmpd="sng">
                      <a:noFill/>
                    </a:lnR>
                    <a:lnT w="57150" cap="flat" cmpd="sng" algn="ctr">
                      <a:solidFill>
                        <a:schemeClr val="bg2">
                          <a:lumMod val="75000"/>
                        </a:schemeClr>
                      </a:solidFill>
                      <a:prstDash val="solid"/>
                      <a:round/>
                      <a:headEnd type="none" w="med" len="med"/>
                      <a:tailEnd type="none" w="med" len="med"/>
                    </a:lnT>
                    <a:lnB w="571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900" dirty="0"/>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altLang="zh-CN" sz="2800" dirty="0">
                          <a:latin typeface="Artifakt Element Black" panose="020B0A03050000020004" pitchFamily="34" charset="0"/>
                          <a:ea typeface="Artifakt Element Black" panose="020B0A03050000020004" pitchFamily="34" charset="0"/>
                        </a:rPr>
                        <a:t>Technical Challenges</a:t>
                      </a:r>
                      <a:endParaRPr lang="zh-CN" altLang="en-US" sz="2800" dirty="0">
                        <a:latin typeface="Artifakt Element Black" panose="020B0A03050000020004" pitchFamily="34" charset="0"/>
                        <a:ea typeface="Noto Serif SC Black" panose="02020200000000000000" pitchFamily="18" charset="-122"/>
                      </a:endParaRPr>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6589895"/>
                  </a:ext>
                </a:extLst>
              </a:tr>
              <a:tr h="1014683">
                <a:tc>
                  <a:txBody>
                    <a:bodyPr/>
                    <a:lstStyle/>
                    <a:p>
                      <a:pPr algn="ctr"/>
                      <a:r>
                        <a:rPr lang="en-US" altLang="zh-CN" sz="3300" dirty="0">
                          <a:latin typeface="Artifakt Element Black" panose="020B0A03050000020004" pitchFamily="34" charset="0"/>
                        </a:rPr>
                        <a:t>04</a:t>
                      </a:r>
                      <a:endParaRPr lang="zh-CN" altLang="en-US" sz="3300" dirty="0">
                        <a:latin typeface="Artifakt Element Black" panose="020B0A03050000020004" pitchFamily="34" charset="0"/>
                      </a:endParaRPr>
                    </a:p>
                  </a:txBody>
                  <a:tcPr marL="95056" marR="95056" marT="47528" marB="47528" anchor="b">
                    <a:lnL w="12700" cmpd="sng">
                      <a:noFill/>
                    </a:lnL>
                    <a:lnR w="12700" cmpd="sng">
                      <a:noFill/>
                    </a:lnR>
                    <a:lnT w="57150" cap="flat" cmpd="sng" algn="ctr">
                      <a:solidFill>
                        <a:schemeClr val="bg2">
                          <a:lumMod val="75000"/>
                        </a:schemeClr>
                      </a:solidFill>
                      <a:prstDash val="solid"/>
                      <a:round/>
                      <a:headEnd type="none" w="med" len="med"/>
                      <a:tailEnd type="none" w="med" len="med"/>
                    </a:lnT>
                    <a:lnB w="571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900"/>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altLang="zh-CN" sz="2800" dirty="0">
                          <a:latin typeface="Artifakt Element Black" panose="020B0A03050000020004" pitchFamily="34" charset="0"/>
                          <a:ea typeface="Artifakt Element Black" panose="020B0A03050000020004" pitchFamily="34" charset="0"/>
                        </a:rPr>
                        <a:t>Summary</a:t>
                      </a:r>
                      <a:endParaRPr lang="zh-CN" altLang="en-US" sz="2800" dirty="0">
                        <a:latin typeface="Artifakt Element Black" panose="020B0A03050000020004" pitchFamily="34" charset="0"/>
                        <a:ea typeface="Noto Serif SC Black" panose="02020200000000000000" pitchFamily="18" charset="-122"/>
                      </a:endParaRPr>
                    </a:p>
                  </a:txBody>
                  <a:tcPr marL="95056" marR="95056" marT="47528" marB="47528"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7786740"/>
                  </a:ext>
                </a:extLst>
              </a:tr>
            </a:tbl>
          </a:graphicData>
        </a:graphic>
      </p:graphicFrame>
      <p:sp>
        <p:nvSpPr>
          <p:cNvPr id="6" name="内容占位符 5">
            <a:extLst>
              <a:ext uri="{FF2B5EF4-FFF2-40B4-BE49-F238E27FC236}">
                <a16:creationId xmlns:a16="http://schemas.microsoft.com/office/drawing/2014/main" id="{05BAA100-8B5F-BEF8-D234-387A8A621090}"/>
              </a:ext>
            </a:extLst>
          </p:cNvPr>
          <p:cNvSpPr>
            <a:spLocks noGrp="1"/>
          </p:cNvSpPr>
          <p:nvPr>
            <p:ph sz="quarter" idx="14"/>
          </p:nvPr>
        </p:nvSpPr>
        <p:spPr/>
        <p:txBody>
          <a:bodyPr/>
          <a:lstStyle/>
          <a:p>
            <a:r>
              <a:rPr lang="en-US" altLang="zh-CN" dirty="0"/>
              <a:t>Contents</a:t>
            </a:r>
            <a:endParaRPr lang="zh-CN" altLang="en-US" dirty="0"/>
          </a:p>
        </p:txBody>
      </p:sp>
    </p:spTree>
    <p:extLst>
      <p:ext uri="{BB962C8B-B14F-4D97-AF65-F5344CB8AC3E}">
        <p14:creationId xmlns:p14="http://schemas.microsoft.com/office/powerpoint/2010/main" val="29937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5C6F9C7F-D8D8-B05B-954B-A61258CA5B93}"/>
              </a:ext>
            </a:extLst>
          </p:cNvPr>
          <p:cNvSpPr>
            <a:spLocks noGrp="1"/>
          </p:cNvSpPr>
          <p:nvPr>
            <p:ph type="body" sz="quarter" idx="14"/>
          </p:nvPr>
        </p:nvSpPr>
        <p:spPr>
          <a:xfrm>
            <a:off x="1737360" y="3028339"/>
            <a:ext cx="944880" cy="801322"/>
          </a:xfrm>
        </p:spPr>
        <p:txBody>
          <a:bodyPr>
            <a:noAutofit/>
          </a:bodyPr>
          <a:lstStyle/>
          <a:p>
            <a:r>
              <a:rPr lang="en-US" altLang="zh-CN" dirty="0"/>
              <a:t>01</a:t>
            </a:r>
            <a:endParaRPr lang="zh-CN" altLang="en-US" dirty="0"/>
          </a:p>
        </p:txBody>
      </p:sp>
      <p:sp>
        <p:nvSpPr>
          <p:cNvPr id="8" name="标题 7">
            <a:extLst>
              <a:ext uri="{FF2B5EF4-FFF2-40B4-BE49-F238E27FC236}">
                <a16:creationId xmlns:a16="http://schemas.microsoft.com/office/drawing/2014/main" id="{16CD5F1F-EDBB-994A-DD20-BD0D1F025D4F}"/>
              </a:ext>
            </a:extLst>
          </p:cNvPr>
          <p:cNvSpPr>
            <a:spLocks noGrp="1"/>
          </p:cNvSpPr>
          <p:nvPr>
            <p:ph type="title"/>
          </p:nvPr>
        </p:nvSpPr>
        <p:spPr/>
        <p:txBody>
          <a:bodyPr/>
          <a:lstStyle/>
          <a:p>
            <a:r>
              <a:rPr lang="en-US" altLang="zh-CN" dirty="0"/>
              <a:t>Project Introduction</a:t>
            </a:r>
            <a:endParaRPr lang="zh-CN" altLang="en-US" dirty="0"/>
          </a:p>
        </p:txBody>
      </p:sp>
      <p:sp>
        <p:nvSpPr>
          <p:cNvPr id="9" name="内容占位符 8">
            <a:extLst>
              <a:ext uri="{FF2B5EF4-FFF2-40B4-BE49-F238E27FC236}">
                <a16:creationId xmlns:a16="http://schemas.microsoft.com/office/drawing/2014/main" id="{82ED2A4F-9D06-A1F2-8358-B15F9CA774B6}"/>
              </a:ext>
            </a:extLst>
          </p:cNvPr>
          <p:cNvSpPr>
            <a:spLocks noGrp="1"/>
          </p:cNvSpPr>
          <p:nvPr>
            <p:ph sz="quarter" idx="15"/>
          </p:nvPr>
        </p:nvSpPr>
        <p:spPr>
          <a:xfrm>
            <a:off x="5040086" y="2967038"/>
            <a:ext cx="6748689" cy="2946400"/>
          </a:xfrm>
        </p:spPr>
        <p:txBody>
          <a:bodyPr/>
          <a:lstStyle/>
          <a:p>
            <a:r>
              <a:rPr lang="en-US" altLang="zh-CN" dirty="0"/>
              <a:t>What’s this project?</a:t>
            </a:r>
          </a:p>
          <a:p>
            <a:r>
              <a:rPr lang="en-US" altLang="zh-CN" dirty="0"/>
              <a:t>Distributed Training</a:t>
            </a:r>
          </a:p>
          <a:p>
            <a:r>
              <a:rPr lang="en-US" altLang="zh-CN" dirty="0"/>
              <a:t>Accelerate Framework</a:t>
            </a:r>
          </a:p>
        </p:txBody>
      </p:sp>
      <p:sp>
        <p:nvSpPr>
          <p:cNvPr id="11" name="文本占位符 10">
            <a:extLst>
              <a:ext uri="{FF2B5EF4-FFF2-40B4-BE49-F238E27FC236}">
                <a16:creationId xmlns:a16="http://schemas.microsoft.com/office/drawing/2014/main" id="{5DDF9944-6D21-F309-7E9C-27C02F6A05AF}"/>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4715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7E72F-1D66-D017-819D-05C4AA056B3E}"/>
              </a:ext>
            </a:extLst>
          </p:cNvPr>
          <p:cNvSpPr>
            <a:spLocks noGrp="1"/>
          </p:cNvSpPr>
          <p:nvPr>
            <p:ph type="title"/>
          </p:nvPr>
        </p:nvSpPr>
        <p:spPr/>
        <p:txBody>
          <a:bodyPr/>
          <a:lstStyle/>
          <a:p>
            <a:r>
              <a:rPr lang="en-US" altLang="zh-CN" dirty="0"/>
              <a:t>What is this project?</a:t>
            </a:r>
            <a:endParaRPr lang="zh-CN" altLang="en-US" dirty="0"/>
          </a:p>
        </p:txBody>
      </p:sp>
      <p:sp>
        <p:nvSpPr>
          <p:cNvPr id="6" name="内容占位符 5">
            <a:extLst>
              <a:ext uri="{FF2B5EF4-FFF2-40B4-BE49-F238E27FC236}">
                <a16:creationId xmlns:a16="http://schemas.microsoft.com/office/drawing/2014/main" id="{0CE44ED1-47A0-5730-D95C-F58FD5B8FE51}"/>
              </a:ext>
            </a:extLst>
          </p:cNvPr>
          <p:cNvSpPr>
            <a:spLocks noGrp="1"/>
          </p:cNvSpPr>
          <p:nvPr>
            <p:ph idx="1"/>
          </p:nvPr>
        </p:nvSpPr>
        <p:spPr>
          <a:xfrm>
            <a:off x="838200" y="1825625"/>
            <a:ext cx="10515600" cy="917265"/>
          </a:xfrm>
        </p:spPr>
        <p:txBody>
          <a:bodyPr/>
          <a:lstStyle/>
          <a:p>
            <a:r>
              <a:rPr lang="en-US" altLang="zh-CN" dirty="0"/>
              <a:t>A </a:t>
            </a:r>
            <a:r>
              <a:rPr lang="en-US" altLang="zh-CN" b="1" dirty="0"/>
              <a:t>transformer-based language model</a:t>
            </a:r>
            <a:r>
              <a:rPr lang="en-US" altLang="zh-CN" dirty="0"/>
              <a:t> that can evaluate arithmetic expressions with </a:t>
            </a:r>
            <a:r>
              <a:rPr lang="en-US" altLang="zh-CN" b="1" dirty="0"/>
              <a:t>step-by-step reasoning</a:t>
            </a:r>
            <a:endParaRPr lang="zh-CN" altLang="en-US" b="1" dirty="0"/>
          </a:p>
        </p:txBody>
      </p:sp>
      <p:sp>
        <p:nvSpPr>
          <p:cNvPr id="3" name="文本框 2">
            <a:extLst>
              <a:ext uri="{FF2B5EF4-FFF2-40B4-BE49-F238E27FC236}">
                <a16:creationId xmlns:a16="http://schemas.microsoft.com/office/drawing/2014/main" id="{F5F2A902-A926-6B40-3CE3-6338536C14EA}"/>
              </a:ext>
            </a:extLst>
          </p:cNvPr>
          <p:cNvSpPr txBox="1"/>
          <p:nvPr/>
        </p:nvSpPr>
        <p:spPr>
          <a:xfrm>
            <a:off x="1113692" y="3153508"/>
            <a:ext cx="10515600" cy="3046988"/>
          </a:xfrm>
          <a:prstGeom prst="rect">
            <a:avLst/>
          </a:prstGeom>
          <a:noFill/>
        </p:spPr>
        <p:txBody>
          <a:bodyPr wrap="square" rtlCol="0">
            <a:spAutoFit/>
          </a:bodyPr>
          <a:lstStyle/>
          <a:p>
            <a:r>
              <a:rPr lang="en-US" altLang="zh-CN" sz="2400" dirty="0"/>
              <a:t>Input:  Evaluate: 8 + ((19 + 17) - (15 - 11))</a:t>
            </a:r>
          </a:p>
          <a:p>
            <a:endParaRPr lang="en-US" altLang="zh-CN" sz="2400" dirty="0"/>
          </a:p>
          <a:p>
            <a:r>
              <a:rPr lang="en-US" altLang="zh-CN" sz="2400" dirty="0"/>
              <a:t>Output:</a:t>
            </a:r>
          </a:p>
          <a:p>
            <a:r>
              <a:rPr lang="en-US" altLang="zh-CN" sz="2400" dirty="0"/>
              <a:t>  Step 1: 19 + 17 = 36</a:t>
            </a:r>
          </a:p>
          <a:p>
            <a:r>
              <a:rPr lang="en-US" altLang="zh-CN" sz="2400" dirty="0"/>
              <a:t>  Step 2: 15 - 11 = 4</a:t>
            </a:r>
          </a:p>
          <a:p>
            <a:r>
              <a:rPr lang="en-US" altLang="zh-CN" sz="2400" dirty="0"/>
              <a:t>  Step 3: 36 - 4 = 32</a:t>
            </a:r>
          </a:p>
          <a:p>
            <a:r>
              <a:rPr lang="en-US" altLang="zh-CN" sz="2400" dirty="0"/>
              <a:t>  Step 4: 8 + 32 = 40</a:t>
            </a:r>
          </a:p>
          <a:p>
            <a:r>
              <a:rPr lang="en-US" altLang="zh-CN" sz="2400" dirty="0"/>
              <a:t>  Final Result: 40</a:t>
            </a:r>
            <a:endParaRPr lang="zh-CN" altLang="en-US" sz="2400" dirty="0"/>
          </a:p>
        </p:txBody>
      </p:sp>
    </p:spTree>
    <p:extLst>
      <p:ext uri="{BB962C8B-B14F-4D97-AF65-F5344CB8AC3E}">
        <p14:creationId xmlns:p14="http://schemas.microsoft.com/office/powerpoint/2010/main" val="375281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1">
            <a:extLst>
              <a:ext uri="{FF2B5EF4-FFF2-40B4-BE49-F238E27FC236}">
                <a16:creationId xmlns:a16="http://schemas.microsoft.com/office/drawing/2014/main" id="{FDE8189A-945C-C571-96A9-444B0A8B0493}"/>
              </a:ext>
            </a:extLst>
          </p:cNvPr>
          <p:cNvGraphicFramePr>
            <a:graphicFrameLocks noGrp="1"/>
          </p:cNvGraphicFramePr>
          <p:nvPr>
            <p:ph sz="half" idx="1"/>
            <p:extLst>
              <p:ext uri="{D42A27DB-BD31-4B8C-83A1-F6EECF244321}">
                <p14:modId xmlns:p14="http://schemas.microsoft.com/office/powerpoint/2010/main" val="752713209"/>
              </p:ext>
            </p:extLst>
          </p:nvPr>
        </p:nvGraphicFramePr>
        <p:xfrm>
          <a:off x="832338" y="1711569"/>
          <a:ext cx="10521462" cy="4259726"/>
        </p:xfrm>
        <a:graphic>
          <a:graphicData uri="http://schemas.openxmlformats.org/drawingml/2006/table">
            <a:tbl>
              <a:tblPr firstRow="1" bandRow="1">
                <a:tableStyleId>{5C22544A-7EE6-4342-B048-85BDC9FD1C3A}</a:tableStyleId>
              </a:tblPr>
              <a:tblGrid>
                <a:gridCol w="3511062">
                  <a:extLst>
                    <a:ext uri="{9D8B030D-6E8A-4147-A177-3AD203B41FA5}">
                      <a16:colId xmlns:a16="http://schemas.microsoft.com/office/drawing/2014/main" val="1457720945"/>
                    </a:ext>
                  </a:extLst>
                </a:gridCol>
                <a:gridCol w="3505200">
                  <a:extLst>
                    <a:ext uri="{9D8B030D-6E8A-4147-A177-3AD203B41FA5}">
                      <a16:colId xmlns:a16="http://schemas.microsoft.com/office/drawing/2014/main" val="3355222134"/>
                    </a:ext>
                  </a:extLst>
                </a:gridCol>
                <a:gridCol w="3505200">
                  <a:extLst>
                    <a:ext uri="{9D8B030D-6E8A-4147-A177-3AD203B41FA5}">
                      <a16:colId xmlns:a16="http://schemas.microsoft.com/office/drawing/2014/main" val="3506721163"/>
                    </a:ext>
                  </a:extLst>
                </a:gridCol>
              </a:tblGrid>
              <a:tr h="621323">
                <a:tc>
                  <a:txBody>
                    <a:bodyPr/>
                    <a:lstStyle/>
                    <a:p>
                      <a:pPr algn="ctr"/>
                      <a:r>
                        <a:rPr lang="en-US" altLang="zh-CN" sz="2400" dirty="0"/>
                        <a:t>Method</a:t>
                      </a:r>
                      <a:endParaRPr lang="zh-CN" altLang="en-US" sz="2400" dirty="0"/>
                    </a:p>
                  </a:txBody>
                  <a:tcPr anchor="ctr">
                    <a:solidFill>
                      <a:srgbClr val="723DC1"/>
                    </a:solidFill>
                  </a:tcPr>
                </a:tc>
                <a:tc>
                  <a:txBody>
                    <a:bodyPr/>
                    <a:lstStyle/>
                    <a:p>
                      <a:pPr algn="ctr"/>
                      <a:r>
                        <a:rPr lang="en-US" altLang="zh-CN" sz="2400" dirty="0"/>
                        <a:t>Advantages</a:t>
                      </a:r>
                      <a:endParaRPr lang="zh-CN" altLang="en-US" sz="2400" dirty="0"/>
                    </a:p>
                  </a:txBody>
                  <a:tcPr anchor="ctr">
                    <a:solidFill>
                      <a:srgbClr val="723DC1"/>
                    </a:solidFill>
                  </a:tcPr>
                </a:tc>
                <a:tc>
                  <a:txBody>
                    <a:bodyPr/>
                    <a:lstStyle/>
                    <a:p>
                      <a:pPr algn="ctr"/>
                      <a:r>
                        <a:rPr lang="en-US" altLang="zh-CN" sz="2400" dirty="0"/>
                        <a:t>Disadvantages</a:t>
                      </a:r>
                      <a:endParaRPr lang="zh-CN" altLang="en-US" sz="2400" dirty="0"/>
                    </a:p>
                  </a:txBody>
                  <a:tcPr anchor="ctr">
                    <a:solidFill>
                      <a:srgbClr val="723DC1"/>
                    </a:solidFill>
                  </a:tcPr>
                </a:tc>
                <a:extLst>
                  <a:ext uri="{0D108BD9-81ED-4DB2-BD59-A6C34878D82A}">
                    <a16:rowId xmlns:a16="http://schemas.microsoft.com/office/drawing/2014/main" val="306575736"/>
                  </a:ext>
                </a:extLst>
              </a:tr>
              <a:tr h="908001">
                <a:tc>
                  <a:txBody>
                    <a:bodyPr/>
                    <a:lstStyle/>
                    <a:p>
                      <a:pPr algn="ctr"/>
                      <a:r>
                        <a:rPr lang="en-US" altLang="zh-CN" sz="2000" dirty="0"/>
                        <a:t>Single GPU</a:t>
                      </a:r>
                      <a:endParaRPr lang="zh-CN" altLang="en-US" sz="2000" dirty="0"/>
                    </a:p>
                  </a:txBody>
                  <a:tcPr anchor="ctr">
                    <a:solidFill>
                      <a:srgbClr val="CEC4EA"/>
                    </a:solidFill>
                  </a:tcPr>
                </a:tc>
                <a:tc>
                  <a:txBody>
                    <a:bodyPr/>
                    <a:lstStyle/>
                    <a:p>
                      <a:pPr algn="ctr"/>
                      <a:r>
                        <a:rPr lang="en-US" altLang="zh-CN" dirty="0"/>
                        <a:t>Easy code, fast to implement,</a:t>
                      </a:r>
                    </a:p>
                    <a:p>
                      <a:pPr algn="ctr"/>
                      <a:r>
                        <a:rPr lang="en-US" altLang="zh-CN" dirty="0"/>
                        <a:t>No communication cost</a:t>
                      </a:r>
                      <a:endParaRPr lang="zh-CN" altLang="en-US" dirty="0"/>
                    </a:p>
                  </a:txBody>
                  <a:tcPr anchor="ctr">
                    <a:solidFill>
                      <a:srgbClr val="CEC4EA"/>
                    </a:solidFill>
                  </a:tcPr>
                </a:tc>
                <a:tc>
                  <a:txBody>
                    <a:bodyPr/>
                    <a:lstStyle/>
                    <a:p>
                      <a:pPr algn="ctr"/>
                      <a:r>
                        <a:rPr lang="en-US" altLang="zh-CN" dirty="0"/>
                        <a:t>Slow, memory limit</a:t>
                      </a:r>
                      <a:endParaRPr lang="zh-CN" altLang="en-US" dirty="0"/>
                    </a:p>
                  </a:txBody>
                  <a:tcPr anchor="ctr">
                    <a:solidFill>
                      <a:srgbClr val="CEC4EA"/>
                    </a:solidFill>
                  </a:tcPr>
                </a:tc>
                <a:extLst>
                  <a:ext uri="{0D108BD9-81ED-4DB2-BD59-A6C34878D82A}">
                    <a16:rowId xmlns:a16="http://schemas.microsoft.com/office/drawing/2014/main" val="764399812"/>
                  </a:ext>
                </a:extLst>
              </a:tr>
              <a:tr h="908001">
                <a:tc>
                  <a:txBody>
                    <a:bodyPr/>
                    <a:lstStyle/>
                    <a:p>
                      <a:pPr algn="ctr"/>
                      <a:r>
                        <a:rPr lang="en-US" altLang="zh-CN" sz="2000" dirty="0"/>
                        <a:t>DP</a:t>
                      </a:r>
                    </a:p>
                    <a:p>
                      <a:pPr algn="ctr"/>
                      <a:r>
                        <a:rPr lang="en-US" altLang="zh-CN" sz="2000" dirty="0"/>
                        <a:t>(Data Parallel)</a:t>
                      </a:r>
                      <a:endParaRPr lang="zh-CN" altLang="en-US" sz="2000" dirty="0"/>
                    </a:p>
                  </a:txBody>
                  <a:tcPr anchor="ctr">
                    <a:solidFill>
                      <a:srgbClr val="E8E3F1"/>
                    </a:solidFill>
                  </a:tcPr>
                </a:tc>
                <a:tc>
                  <a:txBody>
                    <a:bodyPr/>
                    <a:lstStyle/>
                    <a:p>
                      <a:pPr algn="ctr"/>
                      <a:r>
                        <a:rPr lang="en-US" altLang="zh-CN" dirty="0"/>
                        <a:t>Faster</a:t>
                      </a:r>
                      <a:endParaRPr lang="zh-CN" altLang="en-US" dirty="0"/>
                    </a:p>
                  </a:txBody>
                  <a:tcPr anchor="ctr">
                    <a:solidFill>
                      <a:srgbClr val="E8E3F1"/>
                    </a:solidFill>
                  </a:tcPr>
                </a:tc>
                <a:tc>
                  <a:txBody>
                    <a:bodyPr/>
                    <a:lstStyle/>
                    <a:p>
                      <a:pPr algn="ctr"/>
                      <a:r>
                        <a:rPr lang="en-US" altLang="zh-CN" dirty="0"/>
                        <a:t>High communication cost</a:t>
                      </a:r>
                    </a:p>
                    <a:p>
                      <a:pPr algn="ctr"/>
                      <a:r>
                        <a:rPr lang="en-US" altLang="zh-CN" dirty="0"/>
                        <a:t>Run on one machine</a:t>
                      </a:r>
                    </a:p>
                    <a:p>
                      <a:pPr algn="ctr"/>
                      <a:r>
                        <a:rPr lang="en-US" altLang="zh-CN" dirty="0"/>
                        <a:t>High workload for main GPU</a:t>
                      </a:r>
                      <a:endParaRPr lang="zh-CN" altLang="en-US" dirty="0"/>
                    </a:p>
                  </a:txBody>
                  <a:tcPr anchor="ctr">
                    <a:solidFill>
                      <a:srgbClr val="E8E3F1"/>
                    </a:solidFill>
                  </a:tcPr>
                </a:tc>
                <a:extLst>
                  <a:ext uri="{0D108BD9-81ED-4DB2-BD59-A6C34878D82A}">
                    <a16:rowId xmlns:a16="http://schemas.microsoft.com/office/drawing/2014/main" val="2969850688"/>
                  </a:ext>
                </a:extLst>
              </a:tr>
              <a:tr h="908001">
                <a:tc>
                  <a:txBody>
                    <a:bodyPr/>
                    <a:lstStyle/>
                    <a:p>
                      <a:pPr algn="ctr"/>
                      <a:r>
                        <a:rPr lang="en-US" altLang="zh-CN" sz="2000" dirty="0"/>
                        <a:t>DDP</a:t>
                      </a:r>
                    </a:p>
                    <a:p>
                      <a:pPr algn="ctr"/>
                      <a:r>
                        <a:rPr lang="en-US" altLang="zh-CN" sz="2000" dirty="0"/>
                        <a:t>(Distributed Data Parallel)</a:t>
                      </a:r>
                      <a:endParaRPr lang="zh-CN" altLang="en-US" sz="2000" dirty="0"/>
                    </a:p>
                  </a:txBody>
                  <a:tcPr anchor="ctr">
                    <a:solidFill>
                      <a:srgbClr val="CEC4EA"/>
                    </a:solidFill>
                  </a:tcPr>
                </a:tc>
                <a:tc>
                  <a:txBody>
                    <a:bodyPr/>
                    <a:lstStyle/>
                    <a:p>
                      <a:pPr algn="ctr"/>
                      <a:r>
                        <a:rPr lang="en-US" altLang="zh-CN" dirty="0"/>
                        <a:t>GPUs are independent</a:t>
                      </a:r>
                    </a:p>
                    <a:p>
                      <a:pPr algn="ctr"/>
                      <a:r>
                        <a:rPr lang="en-US" altLang="zh-CN" dirty="0"/>
                        <a:t>Synchronize data</a:t>
                      </a:r>
                      <a:endParaRPr lang="zh-CN" altLang="en-US" dirty="0"/>
                    </a:p>
                  </a:txBody>
                  <a:tcPr anchor="ctr">
                    <a:solidFill>
                      <a:srgbClr val="CEC4EA"/>
                    </a:solidFill>
                  </a:tcPr>
                </a:tc>
                <a:tc>
                  <a:txBody>
                    <a:bodyPr/>
                    <a:lstStyle/>
                    <a:p>
                      <a:pPr algn="ctr"/>
                      <a:r>
                        <a:rPr lang="en-US" altLang="zh-CN" dirty="0"/>
                        <a:t>Some communication cost</a:t>
                      </a:r>
                    </a:p>
                    <a:p>
                      <a:pPr algn="ctr"/>
                      <a:r>
                        <a:rPr lang="en-US" altLang="zh-CN" dirty="0"/>
                        <a:t>Complicated to apply</a:t>
                      </a:r>
                      <a:endParaRPr lang="zh-CN" altLang="en-US" dirty="0"/>
                    </a:p>
                  </a:txBody>
                  <a:tcPr anchor="ctr">
                    <a:solidFill>
                      <a:srgbClr val="CEC4EA"/>
                    </a:solidFill>
                  </a:tcPr>
                </a:tc>
                <a:extLst>
                  <a:ext uri="{0D108BD9-81ED-4DB2-BD59-A6C34878D82A}">
                    <a16:rowId xmlns:a16="http://schemas.microsoft.com/office/drawing/2014/main" val="3103020191"/>
                  </a:ext>
                </a:extLst>
              </a:tr>
              <a:tr h="908001">
                <a:tc>
                  <a:txBody>
                    <a:bodyPr/>
                    <a:lstStyle/>
                    <a:p>
                      <a:pPr algn="ctr"/>
                      <a:r>
                        <a:rPr lang="en-US" altLang="zh-CN" sz="2000" dirty="0"/>
                        <a:t>Accelerate</a:t>
                      </a:r>
                      <a:endParaRPr lang="zh-CN" altLang="en-US" sz="2000" dirty="0"/>
                    </a:p>
                  </a:txBody>
                  <a:tcPr anchor="ctr">
                    <a:solidFill>
                      <a:srgbClr val="E8E3F1"/>
                    </a:solidFill>
                  </a:tcPr>
                </a:tc>
                <a:tc>
                  <a:txBody>
                    <a:bodyPr/>
                    <a:lstStyle/>
                    <a:p>
                      <a:pPr algn="ctr"/>
                      <a:r>
                        <a:rPr lang="en-US" altLang="zh-CN" dirty="0"/>
                        <a:t>Light abstract modularization of DDP</a:t>
                      </a:r>
                      <a:endParaRPr lang="zh-CN" altLang="en-US" dirty="0"/>
                    </a:p>
                  </a:txBody>
                  <a:tcPr anchor="ctr">
                    <a:solidFill>
                      <a:srgbClr val="E8E3F1"/>
                    </a:solidFill>
                  </a:tcPr>
                </a:tc>
                <a:tc>
                  <a:txBody>
                    <a:bodyPr/>
                    <a:lstStyle/>
                    <a:p>
                      <a:pPr algn="ctr"/>
                      <a:r>
                        <a:rPr lang="en-US" altLang="zh-CN" dirty="0"/>
                        <a:t>Some communication cost</a:t>
                      </a:r>
                      <a:endParaRPr lang="zh-CN" altLang="en-US" dirty="0"/>
                    </a:p>
                  </a:txBody>
                  <a:tcPr anchor="ctr">
                    <a:solidFill>
                      <a:srgbClr val="E8E3F1"/>
                    </a:solidFill>
                  </a:tcPr>
                </a:tc>
                <a:extLst>
                  <a:ext uri="{0D108BD9-81ED-4DB2-BD59-A6C34878D82A}">
                    <a16:rowId xmlns:a16="http://schemas.microsoft.com/office/drawing/2014/main" val="2027735116"/>
                  </a:ext>
                </a:extLst>
              </a:tr>
            </a:tbl>
          </a:graphicData>
        </a:graphic>
      </p:graphicFrame>
      <p:sp>
        <p:nvSpPr>
          <p:cNvPr id="4" name="标题 3">
            <a:extLst>
              <a:ext uri="{FF2B5EF4-FFF2-40B4-BE49-F238E27FC236}">
                <a16:creationId xmlns:a16="http://schemas.microsoft.com/office/drawing/2014/main" id="{96771D79-A1F2-3650-1624-D780181203DF}"/>
              </a:ext>
            </a:extLst>
          </p:cNvPr>
          <p:cNvSpPr>
            <a:spLocks noGrp="1"/>
          </p:cNvSpPr>
          <p:nvPr>
            <p:ph type="title"/>
          </p:nvPr>
        </p:nvSpPr>
        <p:spPr/>
        <p:txBody>
          <a:bodyPr/>
          <a:lstStyle/>
          <a:p>
            <a:r>
              <a:rPr lang="en-US" altLang="zh-CN" dirty="0"/>
              <a:t>Distributed Training</a:t>
            </a:r>
            <a:endParaRPr lang="zh-CN" altLang="en-US" dirty="0"/>
          </a:p>
        </p:txBody>
      </p:sp>
    </p:spTree>
    <p:extLst>
      <p:ext uri="{BB962C8B-B14F-4D97-AF65-F5344CB8AC3E}">
        <p14:creationId xmlns:p14="http://schemas.microsoft.com/office/powerpoint/2010/main" val="194746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6BE3CF4-6DF7-2C68-B93D-824EBC08F671}"/>
              </a:ext>
            </a:extLst>
          </p:cNvPr>
          <p:cNvSpPr>
            <a:spLocks noGrp="1"/>
          </p:cNvSpPr>
          <p:nvPr>
            <p:ph type="title"/>
          </p:nvPr>
        </p:nvSpPr>
        <p:spPr/>
        <p:txBody>
          <a:bodyPr>
            <a:normAutofit/>
          </a:bodyPr>
          <a:lstStyle/>
          <a:p>
            <a:r>
              <a:rPr lang="en-US" altLang="zh-CN" dirty="0"/>
              <a:t>Accelerator</a:t>
            </a:r>
            <a:endParaRPr lang="zh-CN" altLang="en-US" dirty="0"/>
          </a:p>
        </p:txBody>
      </p:sp>
      <p:sp>
        <p:nvSpPr>
          <p:cNvPr id="2" name="内容占位符 1">
            <a:extLst>
              <a:ext uri="{FF2B5EF4-FFF2-40B4-BE49-F238E27FC236}">
                <a16:creationId xmlns:a16="http://schemas.microsoft.com/office/drawing/2014/main" id="{F2E4ED00-1D5B-FC86-0D1E-4BB07CB7E7AC}"/>
              </a:ext>
            </a:extLst>
          </p:cNvPr>
          <p:cNvSpPr>
            <a:spLocks noGrp="1"/>
          </p:cNvSpPr>
          <p:nvPr>
            <p:ph idx="1"/>
          </p:nvPr>
        </p:nvSpPr>
        <p:spPr>
          <a:xfrm>
            <a:off x="838199" y="1825625"/>
            <a:ext cx="10673219" cy="4351338"/>
          </a:xfrm>
        </p:spPr>
        <p:txBody>
          <a:bodyPr/>
          <a:lstStyle/>
          <a:p>
            <a:r>
              <a:rPr lang="en-US" altLang="zh-CN" dirty="0"/>
              <a:t>accelerate config: Determine machines, devices, precision, etc.</a:t>
            </a:r>
          </a:p>
          <a:p>
            <a:endParaRPr lang="en-US" altLang="zh-CN" dirty="0"/>
          </a:p>
          <a:p>
            <a:r>
              <a:rPr lang="en-US" altLang="zh-CN" dirty="0"/>
              <a:t>Accelerator object: an instance that contains all the information needed for DDP training and takes in charge of DDP</a:t>
            </a:r>
          </a:p>
          <a:p>
            <a:endParaRPr lang="en-US" altLang="zh-CN" dirty="0"/>
          </a:p>
          <a:p>
            <a:r>
              <a:rPr lang="en-US" altLang="zh-CN" dirty="0" err="1"/>
              <a:t>accelerate.prepare</a:t>
            </a:r>
            <a:r>
              <a:rPr lang="en-US" altLang="zh-CN" dirty="0"/>
              <a:t>(): model, optimizer, </a:t>
            </a:r>
            <a:r>
              <a:rPr lang="en-US" altLang="zh-CN" dirty="0" err="1"/>
              <a:t>train_dataloader</a:t>
            </a:r>
            <a:r>
              <a:rPr lang="en-US" altLang="zh-CN" dirty="0"/>
              <a:t> = </a:t>
            </a:r>
            <a:r>
              <a:rPr lang="en-US" altLang="zh-CN" dirty="0" err="1"/>
              <a:t>accelerator.prepare</a:t>
            </a:r>
            <a:r>
              <a:rPr lang="en-US" altLang="zh-CN" dirty="0"/>
              <a:t>(model, optimizer, </a:t>
            </a:r>
            <a:r>
              <a:rPr lang="en-US" altLang="zh-CN" dirty="0" err="1"/>
              <a:t>train_dataloader</a:t>
            </a:r>
            <a:r>
              <a:rPr lang="en-US" altLang="zh-CN" dirty="0"/>
              <a:t>)</a:t>
            </a:r>
          </a:p>
          <a:p>
            <a:endParaRPr lang="en-US" altLang="zh-CN" dirty="0"/>
          </a:p>
          <a:p>
            <a:r>
              <a:rPr lang="en-US" altLang="zh-CN" dirty="0"/>
              <a:t>Launcher: accelerate launch train.py</a:t>
            </a:r>
            <a:endParaRPr lang="zh-CN" altLang="en-US" dirty="0"/>
          </a:p>
        </p:txBody>
      </p:sp>
    </p:spTree>
    <p:extLst>
      <p:ext uri="{BB962C8B-B14F-4D97-AF65-F5344CB8AC3E}">
        <p14:creationId xmlns:p14="http://schemas.microsoft.com/office/powerpoint/2010/main" val="72873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245EC4-E4F9-0CA7-2EDA-5C60D418A2E5}"/>
              </a:ext>
            </a:extLst>
          </p:cNvPr>
          <p:cNvSpPr>
            <a:spLocks noGrp="1"/>
          </p:cNvSpPr>
          <p:nvPr>
            <p:ph type="body" idx="1"/>
          </p:nvPr>
        </p:nvSpPr>
        <p:spPr/>
        <p:txBody>
          <a:bodyPr/>
          <a:lstStyle/>
          <a:p>
            <a:endParaRPr lang="zh-CN" altLang="en-US"/>
          </a:p>
        </p:txBody>
      </p:sp>
      <p:sp>
        <p:nvSpPr>
          <p:cNvPr id="3" name="文本占位符 2">
            <a:extLst>
              <a:ext uri="{FF2B5EF4-FFF2-40B4-BE49-F238E27FC236}">
                <a16:creationId xmlns:a16="http://schemas.microsoft.com/office/drawing/2014/main" id="{6DD799E3-1494-543B-BAE9-60A0C74AA4B7}"/>
              </a:ext>
            </a:extLst>
          </p:cNvPr>
          <p:cNvSpPr>
            <a:spLocks noGrp="1"/>
          </p:cNvSpPr>
          <p:nvPr>
            <p:ph type="body" sz="quarter" idx="14"/>
          </p:nvPr>
        </p:nvSpPr>
        <p:spPr/>
        <p:txBody>
          <a:bodyPr/>
          <a:lstStyle/>
          <a:p>
            <a:r>
              <a:rPr lang="en-US" altLang="zh-CN" dirty="0"/>
              <a:t>02</a:t>
            </a:r>
            <a:endParaRPr lang="zh-CN" altLang="en-US" dirty="0"/>
          </a:p>
        </p:txBody>
      </p:sp>
      <p:sp>
        <p:nvSpPr>
          <p:cNvPr id="4" name="标题 3">
            <a:extLst>
              <a:ext uri="{FF2B5EF4-FFF2-40B4-BE49-F238E27FC236}">
                <a16:creationId xmlns:a16="http://schemas.microsoft.com/office/drawing/2014/main" id="{4BC0D8AA-C431-1551-4E79-6D512642024A}"/>
              </a:ext>
            </a:extLst>
          </p:cNvPr>
          <p:cNvSpPr>
            <a:spLocks noGrp="1"/>
          </p:cNvSpPr>
          <p:nvPr>
            <p:ph type="title"/>
          </p:nvPr>
        </p:nvSpPr>
        <p:spPr/>
        <p:txBody>
          <a:bodyPr/>
          <a:lstStyle/>
          <a:p>
            <a:r>
              <a:rPr lang="en-US" altLang="zh-CN" dirty="0"/>
              <a:t>Reconstruction</a:t>
            </a:r>
            <a:endParaRPr lang="zh-CN" altLang="en-US" dirty="0"/>
          </a:p>
        </p:txBody>
      </p:sp>
      <p:sp>
        <p:nvSpPr>
          <p:cNvPr id="5" name="内容占位符 4">
            <a:extLst>
              <a:ext uri="{FF2B5EF4-FFF2-40B4-BE49-F238E27FC236}">
                <a16:creationId xmlns:a16="http://schemas.microsoft.com/office/drawing/2014/main" id="{23E662C1-F550-71DC-2106-84DCFBCAA83B}"/>
              </a:ext>
            </a:extLst>
          </p:cNvPr>
          <p:cNvSpPr>
            <a:spLocks noGrp="1"/>
          </p:cNvSpPr>
          <p:nvPr>
            <p:ph sz="quarter" idx="15"/>
          </p:nvPr>
        </p:nvSpPr>
        <p:spPr/>
        <p:txBody>
          <a:bodyPr/>
          <a:lstStyle/>
          <a:p>
            <a:r>
              <a:rPr lang="en-US" altLang="zh-CN" dirty="0"/>
              <a:t>Refactoring</a:t>
            </a:r>
          </a:p>
          <a:p>
            <a:r>
              <a:rPr lang="en-US" altLang="zh-CN" dirty="0"/>
              <a:t>Addition</a:t>
            </a:r>
          </a:p>
          <a:p>
            <a:r>
              <a:rPr lang="en-US" altLang="zh-CN" dirty="0"/>
              <a:t>Restructuring</a:t>
            </a:r>
            <a:endParaRPr lang="zh-CN" altLang="en-US" dirty="0"/>
          </a:p>
        </p:txBody>
      </p:sp>
    </p:spTree>
    <p:extLst>
      <p:ext uri="{BB962C8B-B14F-4D97-AF65-F5344CB8AC3E}">
        <p14:creationId xmlns:p14="http://schemas.microsoft.com/office/powerpoint/2010/main" val="261148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09DAE17-47C5-BA3A-9A97-DE539CF02149}"/>
              </a:ext>
            </a:extLst>
          </p:cNvPr>
          <p:cNvSpPr>
            <a:spLocks noGrp="1"/>
          </p:cNvSpPr>
          <p:nvPr>
            <p:ph type="title"/>
          </p:nvPr>
        </p:nvSpPr>
        <p:spPr/>
        <p:txBody>
          <a:bodyPr/>
          <a:lstStyle/>
          <a:p>
            <a:r>
              <a:rPr lang="en-US" altLang="zh-CN" dirty="0"/>
              <a:t>Framework-Level Refactoring</a:t>
            </a:r>
            <a:endParaRPr lang="zh-CN" altLang="en-US" dirty="0"/>
          </a:p>
        </p:txBody>
      </p:sp>
      <p:sp>
        <p:nvSpPr>
          <p:cNvPr id="7" name="内容占位符 6">
            <a:extLst>
              <a:ext uri="{FF2B5EF4-FFF2-40B4-BE49-F238E27FC236}">
                <a16:creationId xmlns:a16="http://schemas.microsoft.com/office/drawing/2014/main" id="{B8253E9A-1252-4491-8240-40A6C15406A7}"/>
              </a:ext>
            </a:extLst>
          </p:cNvPr>
          <p:cNvSpPr>
            <a:spLocks noGrp="1"/>
          </p:cNvSpPr>
          <p:nvPr>
            <p:ph idx="1"/>
          </p:nvPr>
        </p:nvSpPr>
        <p:spPr>
          <a:xfrm>
            <a:off x="435228" y="1825625"/>
            <a:ext cx="5264115" cy="4351338"/>
          </a:xfrm>
        </p:spPr>
        <p:txBody>
          <a:bodyPr>
            <a:normAutofit fontScale="92500" lnSpcReduction="10000"/>
          </a:bodyPr>
          <a:lstStyle/>
          <a:p>
            <a:r>
              <a:rPr lang="en-US" altLang="zh-CN" dirty="0"/>
              <a:t>Training loop: reset the optimizer updating steps</a:t>
            </a:r>
          </a:p>
          <a:p>
            <a:endParaRPr lang="en-US" altLang="zh-CN" dirty="0"/>
          </a:p>
          <a:p>
            <a:r>
              <a:rPr lang="en-US" altLang="zh-CN" dirty="0"/>
              <a:t>Device management: remove all manual .to(device)</a:t>
            </a:r>
          </a:p>
          <a:p>
            <a:endParaRPr lang="en-US" altLang="zh-CN" dirty="0"/>
          </a:p>
          <a:p>
            <a:r>
              <a:rPr lang="en-US" altLang="zh-CN" dirty="0"/>
              <a:t>Loss calculation: aggregate loss globally</a:t>
            </a:r>
          </a:p>
          <a:p>
            <a:endParaRPr lang="en-US" altLang="zh-CN" dirty="0"/>
          </a:p>
          <a:p>
            <a:r>
              <a:rPr lang="en-US" altLang="zh-CN" dirty="0"/>
              <a:t>Main process operation: printing and saving</a:t>
            </a:r>
          </a:p>
          <a:p>
            <a:endParaRPr lang="zh-CN" altLang="en-US" dirty="0"/>
          </a:p>
        </p:txBody>
      </p:sp>
      <p:pic>
        <p:nvPicPr>
          <p:cNvPr id="2" name="图片 1">
            <a:extLst>
              <a:ext uri="{FF2B5EF4-FFF2-40B4-BE49-F238E27FC236}">
                <a16:creationId xmlns:a16="http://schemas.microsoft.com/office/drawing/2014/main" id="{96ED8F78-1E68-0674-A2DD-1F9F559CEE0A}"/>
              </a:ext>
            </a:extLst>
          </p:cNvPr>
          <p:cNvPicPr>
            <a:picLocks noChangeAspect="1"/>
          </p:cNvPicPr>
          <p:nvPr/>
        </p:nvPicPr>
        <p:blipFill>
          <a:blip r:embed="rId3"/>
          <a:stretch>
            <a:fillRect/>
          </a:stretch>
        </p:blipFill>
        <p:spPr>
          <a:xfrm>
            <a:off x="5605346" y="1825625"/>
            <a:ext cx="6374571" cy="4351337"/>
          </a:xfrm>
          <a:prstGeom prst="rect">
            <a:avLst/>
          </a:prstGeom>
        </p:spPr>
      </p:pic>
    </p:spTree>
    <p:extLst>
      <p:ext uri="{BB962C8B-B14F-4D97-AF65-F5344CB8AC3E}">
        <p14:creationId xmlns:p14="http://schemas.microsoft.com/office/powerpoint/2010/main" val="3438821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B31B-3EA2-5FC6-F68F-8179067D46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D731871-481B-C31B-FB92-A1E3592AB40E}"/>
              </a:ext>
            </a:extLst>
          </p:cNvPr>
          <p:cNvSpPr>
            <a:spLocks noGrp="1"/>
          </p:cNvSpPr>
          <p:nvPr>
            <p:ph type="title"/>
          </p:nvPr>
        </p:nvSpPr>
        <p:spPr/>
        <p:txBody>
          <a:bodyPr/>
          <a:lstStyle/>
          <a:p>
            <a:r>
              <a:rPr lang="en-US" altLang="zh-CN" dirty="0"/>
              <a:t>Addition</a:t>
            </a:r>
            <a:endParaRPr lang="zh-CN" altLang="en-US" dirty="0"/>
          </a:p>
        </p:txBody>
      </p:sp>
      <p:sp>
        <p:nvSpPr>
          <p:cNvPr id="3" name="内容占位符 2">
            <a:extLst>
              <a:ext uri="{FF2B5EF4-FFF2-40B4-BE49-F238E27FC236}">
                <a16:creationId xmlns:a16="http://schemas.microsoft.com/office/drawing/2014/main" id="{FD077EFC-6895-C33E-684D-7C241013C827}"/>
              </a:ext>
            </a:extLst>
          </p:cNvPr>
          <p:cNvSpPr>
            <a:spLocks noGrp="1"/>
          </p:cNvSpPr>
          <p:nvPr>
            <p:ph idx="1"/>
          </p:nvPr>
        </p:nvSpPr>
        <p:spPr>
          <a:xfrm>
            <a:off x="838200" y="2295098"/>
            <a:ext cx="10515600" cy="4351338"/>
          </a:xfrm>
        </p:spPr>
        <p:txBody>
          <a:bodyPr/>
          <a:lstStyle/>
          <a:p>
            <a:r>
              <a:rPr lang="en-US" altLang="zh-CN" dirty="0"/>
              <a:t>Original code saved optimizer/scheduler states but never restored them -- every restart began from 0 epoch</a:t>
            </a:r>
          </a:p>
          <a:p>
            <a:r>
              <a:rPr lang="en-US" altLang="zh-CN" dirty="0"/>
              <a:t>Restores: model weights + optimizer momentum + scheduler LR position + epoch/step counters</a:t>
            </a:r>
          </a:p>
          <a:p>
            <a:endParaRPr lang="en-US" altLang="zh-CN" dirty="0"/>
          </a:p>
          <a:p>
            <a:r>
              <a:rPr lang="en-US" altLang="zh-CN" dirty="0"/>
              <a:t>Usage: </a:t>
            </a:r>
          </a:p>
          <a:p>
            <a:pPr lvl="1"/>
            <a:r>
              <a:rPr lang="en-US" altLang="zh-CN" dirty="0"/>
              <a:t>--resume-checkpoint &lt;</a:t>
            </a:r>
            <a:r>
              <a:rPr lang="en-US" altLang="zh-CN" dirty="0" err="1"/>
              <a:t>ckpt_path</a:t>
            </a:r>
            <a:r>
              <a:rPr lang="en-US" altLang="zh-CN" dirty="0"/>
              <a:t>&gt;</a:t>
            </a:r>
            <a:endParaRPr lang="zh-CN" altLang="en-US" dirty="0"/>
          </a:p>
        </p:txBody>
      </p:sp>
      <p:sp>
        <p:nvSpPr>
          <p:cNvPr id="4" name="文本框 3">
            <a:extLst>
              <a:ext uri="{FF2B5EF4-FFF2-40B4-BE49-F238E27FC236}">
                <a16:creationId xmlns:a16="http://schemas.microsoft.com/office/drawing/2014/main" id="{193DE694-ECB1-501E-0F89-24EA08C03A6C}"/>
              </a:ext>
            </a:extLst>
          </p:cNvPr>
          <p:cNvSpPr txBox="1"/>
          <p:nvPr/>
        </p:nvSpPr>
        <p:spPr>
          <a:xfrm>
            <a:off x="601249" y="1653436"/>
            <a:ext cx="4196219" cy="584775"/>
          </a:xfrm>
          <a:prstGeom prst="rect">
            <a:avLst/>
          </a:prstGeom>
          <a:noFill/>
        </p:spPr>
        <p:txBody>
          <a:bodyPr wrap="square" rtlCol="0">
            <a:spAutoFit/>
          </a:bodyPr>
          <a:lstStyle/>
          <a:p>
            <a:r>
              <a:rPr lang="en-US" altLang="zh-CN" sz="3200" b="1" dirty="0"/>
              <a:t>Checkpoint Resuming</a:t>
            </a:r>
            <a:endParaRPr lang="zh-CN" altLang="en-US" sz="3200" b="1" dirty="0"/>
          </a:p>
        </p:txBody>
      </p:sp>
    </p:spTree>
    <p:extLst>
      <p:ext uri="{BB962C8B-B14F-4D97-AF65-F5344CB8AC3E}">
        <p14:creationId xmlns:p14="http://schemas.microsoft.com/office/powerpoint/2010/main" val="3335559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D218D-D600-88B1-4164-87F2251F2F7B}"/>
              </a:ext>
            </a:extLst>
          </p:cNvPr>
          <p:cNvSpPr>
            <a:spLocks noGrp="1"/>
          </p:cNvSpPr>
          <p:nvPr>
            <p:ph type="title"/>
          </p:nvPr>
        </p:nvSpPr>
        <p:spPr/>
        <p:txBody>
          <a:bodyPr/>
          <a:lstStyle/>
          <a:p>
            <a:r>
              <a:rPr lang="en-US" altLang="zh-CN" dirty="0"/>
              <a:t>Addition</a:t>
            </a:r>
            <a:endParaRPr lang="zh-CN" altLang="en-US" dirty="0"/>
          </a:p>
        </p:txBody>
      </p:sp>
      <p:sp>
        <p:nvSpPr>
          <p:cNvPr id="3" name="内容占位符 2">
            <a:extLst>
              <a:ext uri="{FF2B5EF4-FFF2-40B4-BE49-F238E27FC236}">
                <a16:creationId xmlns:a16="http://schemas.microsoft.com/office/drawing/2014/main" id="{D451294D-ABA5-68E8-4ED4-8ABC5F022F52}"/>
              </a:ext>
            </a:extLst>
          </p:cNvPr>
          <p:cNvSpPr>
            <a:spLocks noGrp="1"/>
          </p:cNvSpPr>
          <p:nvPr>
            <p:ph idx="1"/>
          </p:nvPr>
        </p:nvSpPr>
        <p:spPr>
          <a:xfrm>
            <a:off x="963461" y="2506662"/>
            <a:ext cx="10515600" cy="4351338"/>
          </a:xfrm>
        </p:spPr>
        <p:txBody>
          <a:bodyPr/>
          <a:lstStyle/>
          <a:p>
            <a:r>
              <a:rPr lang="en-US" altLang="zh-CN" dirty="0"/>
              <a:t>Monitors validation loss improvement ratio (relative, not absolute -- scale-invariant)</a:t>
            </a:r>
          </a:p>
          <a:p>
            <a:r>
              <a:rPr lang="en-US" altLang="zh-CN" dirty="0"/>
              <a:t>In distributed setting: all processes must agree on when to stop</a:t>
            </a:r>
          </a:p>
          <a:p>
            <a:endParaRPr lang="en-US" altLang="zh-CN" dirty="0"/>
          </a:p>
          <a:p>
            <a:endParaRPr lang="en-US" altLang="zh-CN" dirty="0"/>
          </a:p>
          <a:p>
            <a:r>
              <a:rPr lang="en-US" altLang="zh-CN" dirty="0"/>
              <a:t>Usage: </a:t>
            </a:r>
          </a:p>
          <a:p>
            <a:pPr lvl="1"/>
            <a:r>
              <a:rPr lang="en-US" altLang="zh-CN" dirty="0"/>
              <a:t>--early-stopping </a:t>
            </a:r>
          </a:p>
          <a:p>
            <a:pPr lvl="1"/>
            <a:r>
              <a:rPr lang="en-US" altLang="zh-CN" dirty="0"/>
              <a:t>--early-stopping-patience &lt;num&gt;</a:t>
            </a:r>
            <a:endParaRPr lang="zh-CN" altLang="en-US" dirty="0"/>
          </a:p>
          <a:p>
            <a:endParaRPr lang="zh-CN" altLang="en-US" dirty="0"/>
          </a:p>
        </p:txBody>
      </p:sp>
      <p:sp>
        <p:nvSpPr>
          <p:cNvPr id="4" name="文本框 3">
            <a:extLst>
              <a:ext uri="{FF2B5EF4-FFF2-40B4-BE49-F238E27FC236}">
                <a16:creationId xmlns:a16="http://schemas.microsoft.com/office/drawing/2014/main" id="{F0AADBE7-D206-0FC9-E1F3-F8081A0C93CD}"/>
              </a:ext>
            </a:extLst>
          </p:cNvPr>
          <p:cNvSpPr txBox="1"/>
          <p:nvPr/>
        </p:nvSpPr>
        <p:spPr>
          <a:xfrm>
            <a:off x="601250" y="1653436"/>
            <a:ext cx="3807912" cy="584775"/>
          </a:xfrm>
          <a:prstGeom prst="rect">
            <a:avLst/>
          </a:prstGeom>
          <a:noFill/>
        </p:spPr>
        <p:txBody>
          <a:bodyPr wrap="square" rtlCol="0">
            <a:spAutoFit/>
          </a:bodyPr>
          <a:lstStyle/>
          <a:p>
            <a:r>
              <a:rPr lang="en-US" altLang="zh-CN" sz="3200" b="1" dirty="0"/>
              <a:t>Early Stopping</a:t>
            </a:r>
            <a:endParaRPr lang="zh-CN" altLang="en-US" sz="3200" b="1" dirty="0"/>
          </a:p>
        </p:txBody>
      </p:sp>
    </p:spTree>
    <p:extLst>
      <p:ext uri="{BB962C8B-B14F-4D97-AF65-F5344CB8AC3E}">
        <p14:creationId xmlns:p14="http://schemas.microsoft.com/office/powerpoint/2010/main" val="1571135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0924F0-DE1D-A7AE-C1F7-257FA69D6AC2}"/>
              </a:ext>
            </a:extLst>
          </p:cNvPr>
          <p:cNvSpPr>
            <a:spLocks noGrp="1"/>
          </p:cNvSpPr>
          <p:nvPr>
            <p:ph type="title"/>
          </p:nvPr>
        </p:nvSpPr>
        <p:spPr/>
        <p:txBody>
          <a:bodyPr/>
          <a:lstStyle/>
          <a:p>
            <a:r>
              <a:rPr lang="en-US" altLang="zh-CN" dirty="0"/>
              <a:t>Restructuring</a:t>
            </a:r>
            <a:endParaRPr lang="zh-CN" altLang="en-US" dirty="0"/>
          </a:p>
        </p:txBody>
      </p:sp>
      <p:sp>
        <p:nvSpPr>
          <p:cNvPr id="3" name="内容占位符 2">
            <a:extLst>
              <a:ext uri="{FF2B5EF4-FFF2-40B4-BE49-F238E27FC236}">
                <a16:creationId xmlns:a16="http://schemas.microsoft.com/office/drawing/2014/main" id="{11317926-8679-CAE4-F528-814BFDD42570}"/>
              </a:ext>
            </a:extLst>
          </p:cNvPr>
          <p:cNvSpPr>
            <a:spLocks noGrp="1"/>
          </p:cNvSpPr>
          <p:nvPr>
            <p:ph idx="1"/>
          </p:nvPr>
        </p:nvSpPr>
        <p:spPr/>
        <p:txBody>
          <a:bodyPr/>
          <a:lstStyle/>
          <a:p>
            <a:r>
              <a:rPr lang="en-US" altLang="zh-CN" dirty="0"/>
              <a:t>Original: flat structure, 40+ files lying in the root</a:t>
            </a:r>
          </a:p>
          <a:p>
            <a:r>
              <a:rPr lang="en-US" altLang="zh-CN" dirty="0"/>
              <a:t>Present:</a:t>
            </a:r>
          </a:p>
          <a:p>
            <a:pPr lvl="1"/>
            <a:r>
              <a:rPr lang="en-US" altLang="zh-CN" dirty="0"/>
              <a:t>Modules: training, evaluation, data, model, tools, configs</a:t>
            </a:r>
          </a:p>
          <a:p>
            <a:pPr lvl="1"/>
            <a:r>
              <a:rPr lang="en-US" altLang="zh-CN" dirty="0"/>
              <a:t>Entry point: full pipeline script, demo</a:t>
            </a:r>
          </a:p>
          <a:p>
            <a:pPr lvl="1"/>
            <a:r>
              <a:rPr lang="en-US" altLang="zh-CN" dirty="0"/>
              <a:t>Files: README, LISENCE, DEV Log, requirements, etc.</a:t>
            </a:r>
          </a:p>
          <a:p>
            <a:endParaRPr lang="en-US" altLang="zh-CN" dirty="0"/>
          </a:p>
          <a:p>
            <a:pPr marL="0" indent="0">
              <a:buNone/>
            </a:pPr>
            <a:r>
              <a:rPr lang="en-US" altLang="zh-CN" dirty="0"/>
              <a:t>We need to change the path of import and shell script</a:t>
            </a:r>
          </a:p>
          <a:p>
            <a:pPr marL="0" indent="0">
              <a:buNone/>
            </a:pPr>
            <a:endParaRPr lang="en-US" altLang="zh-CN" dirty="0"/>
          </a:p>
        </p:txBody>
      </p:sp>
    </p:spTree>
    <p:extLst>
      <p:ext uri="{BB962C8B-B14F-4D97-AF65-F5344CB8AC3E}">
        <p14:creationId xmlns:p14="http://schemas.microsoft.com/office/powerpoint/2010/main" val="1436518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4EDAAA4-7323-7AED-C211-882FD245EF1F}"/>
              </a:ext>
            </a:extLst>
          </p:cNvPr>
          <p:cNvSpPr>
            <a:spLocks noGrp="1"/>
          </p:cNvSpPr>
          <p:nvPr>
            <p:ph type="body" idx="1"/>
          </p:nvPr>
        </p:nvSpPr>
        <p:spPr/>
        <p:txBody>
          <a:bodyPr/>
          <a:lstStyle/>
          <a:p>
            <a:endParaRPr lang="zh-CN" altLang="en-US"/>
          </a:p>
        </p:txBody>
      </p:sp>
      <p:sp>
        <p:nvSpPr>
          <p:cNvPr id="6" name="文本占位符 5">
            <a:extLst>
              <a:ext uri="{FF2B5EF4-FFF2-40B4-BE49-F238E27FC236}">
                <a16:creationId xmlns:a16="http://schemas.microsoft.com/office/drawing/2014/main" id="{6772EFA5-8AC6-BBB4-4578-B2292C717D6B}"/>
              </a:ext>
            </a:extLst>
          </p:cNvPr>
          <p:cNvSpPr>
            <a:spLocks noGrp="1"/>
          </p:cNvSpPr>
          <p:nvPr>
            <p:ph type="body" sz="quarter" idx="14"/>
          </p:nvPr>
        </p:nvSpPr>
        <p:spPr/>
        <p:txBody>
          <a:bodyPr/>
          <a:lstStyle/>
          <a:p>
            <a:r>
              <a:rPr lang="en-US" altLang="zh-CN" dirty="0"/>
              <a:t>03</a:t>
            </a:r>
            <a:endParaRPr lang="zh-CN" altLang="en-US" dirty="0"/>
          </a:p>
        </p:txBody>
      </p:sp>
      <p:sp>
        <p:nvSpPr>
          <p:cNvPr id="4" name="标题 3">
            <a:extLst>
              <a:ext uri="{FF2B5EF4-FFF2-40B4-BE49-F238E27FC236}">
                <a16:creationId xmlns:a16="http://schemas.microsoft.com/office/drawing/2014/main" id="{48920573-9AC8-20B0-D940-F82B5BF6C452}"/>
              </a:ext>
            </a:extLst>
          </p:cNvPr>
          <p:cNvSpPr>
            <a:spLocks noGrp="1"/>
          </p:cNvSpPr>
          <p:nvPr>
            <p:ph type="title"/>
          </p:nvPr>
        </p:nvSpPr>
        <p:spPr/>
        <p:txBody>
          <a:bodyPr/>
          <a:lstStyle/>
          <a:p>
            <a:r>
              <a:rPr lang="en-US" altLang="zh-CN" dirty="0"/>
              <a:t>Technical Challenges</a:t>
            </a:r>
            <a:endParaRPr lang="zh-CN" altLang="en-US" dirty="0"/>
          </a:p>
        </p:txBody>
      </p:sp>
      <p:sp>
        <p:nvSpPr>
          <p:cNvPr id="7" name="内容占位符 6">
            <a:extLst>
              <a:ext uri="{FF2B5EF4-FFF2-40B4-BE49-F238E27FC236}">
                <a16:creationId xmlns:a16="http://schemas.microsoft.com/office/drawing/2014/main" id="{47A45E1E-D5AC-5077-5699-575D4C1077DC}"/>
              </a:ext>
            </a:extLst>
          </p:cNvPr>
          <p:cNvSpPr>
            <a:spLocks noGrp="1"/>
          </p:cNvSpPr>
          <p:nvPr>
            <p:ph sz="quarter" idx="15"/>
          </p:nvPr>
        </p:nvSpPr>
        <p:spPr/>
        <p:txBody>
          <a:bodyPr/>
          <a:lstStyle/>
          <a:p>
            <a:r>
              <a:rPr lang="en-US" altLang="zh-CN" dirty="0"/>
              <a:t>Learning Rate Scheduler</a:t>
            </a:r>
          </a:p>
          <a:p>
            <a:r>
              <a:rPr lang="en-US" altLang="zh-CN" dirty="0"/>
              <a:t>Early Stopping</a:t>
            </a:r>
          </a:p>
          <a:p>
            <a:r>
              <a:rPr lang="en-US" altLang="zh-CN" dirty="0"/>
              <a:t>Checkpoints Resumption</a:t>
            </a:r>
            <a:endParaRPr lang="zh-CN" altLang="en-US" dirty="0"/>
          </a:p>
        </p:txBody>
      </p:sp>
    </p:spTree>
    <p:extLst>
      <p:ext uri="{BB962C8B-B14F-4D97-AF65-F5344CB8AC3E}">
        <p14:creationId xmlns:p14="http://schemas.microsoft.com/office/powerpoint/2010/main" val="1340590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90842-E9C8-7F82-A101-8E71B043F332}"/>
              </a:ext>
            </a:extLst>
          </p:cNvPr>
          <p:cNvSpPr>
            <a:spLocks noGrp="1"/>
          </p:cNvSpPr>
          <p:nvPr>
            <p:ph type="title"/>
          </p:nvPr>
        </p:nvSpPr>
        <p:spPr/>
        <p:txBody>
          <a:bodyPr/>
          <a:lstStyle/>
          <a:p>
            <a:r>
              <a:rPr lang="en-US" altLang="zh-CN" dirty="0"/>
              <a:t>Updating Step Calculation</a:t>
            </a:r>
            <a:endParaRPr lang="zh-CN" altLang="en-US" dirty="0"/>
          </a:p>
        </p:txBody>
      </p:sp>
      <p:sp>
        <p:nvSpPr>
          <p:cNvPr id="3" name="内容占位符 2">
            <a:extLst>
              <a:ext uri="{FF2B5EF4-FFF2-40B4-BE49-F238E27FC236}">
                <a16:creationId xmlns:a16="http://schemas.microsoft.com/office/drawing/2014/main" id="{C17C8DD5-945E-6B5F-97F7-43556A01C4F1}"/>
              </a:ext>
            </a:extLst>
          </p:cNvPr>
          <p:cNvSpPr>
            <a:spLocks noGrp="1"/>
          </p:cNvSpPr>
          <p:nvPr>
            <p:ph idx="1"/>
          </p:nvPr>
        </p:nvSpPr>
        <p:spPr>
          <a:xfrm>
            <a:off x="838200" y="2517731"/>
            <a:ext cx="10515600" cy="3696810"/>
          </a:xfrm>
        </p:spPr>
        <p:txBody>
          <a:bodyPr/>
          <a:lstStyle/>
          <a:p>
            <a:r>
              <a:rPr lang="en-US" altLang="zh-CN" dirty="0"/>
              <a:t>Be careful with the indicators during training even your program doesn’t raise an error</a:t>
            </a:r>
          </a:p>
          <a:p>
            <a:endParaRPr lang="en-US" altLang="zh-CN" dirty="0"/>
          </a:p>
          <a:p>
            <a:r>
              <a:rPr lang="en-US" altLang="zh-CN" dirty="0"/>
              <a:t>This bug shows distributed training could increase the stability.</a:t>
            </a:r>
          </a:p>
          <a:p>
            <a:endParaRPr lang="en-US" altLang="zh-CN" dirty="0"/>
          </a:p>
          <a:p>
            <a:r>
              <a:rPr lang="en-US" altLang="zh-CN" dirty="0"/>
              <a:t>Fix: changed the way to calculate updating steps and switched from a fixed warmup step `1000` to a ratio-based warmup (5% of total steps)</a:t>
            </a:r>
            <a:endParaRPr lang="zh-CN" altLang="en-US" dirty="0"/>
          </a:p>
        </p:txBody>
      </p:sp>
      <p:sp>
        <p:nvSpPr>
          <p:cNvPr id="4" name="文本框 3">
            <a:extLst>
              <a:ext uri="{FF2B5EF4-FFF2-40B4-BE49-F238E27FC236}">
                <a16:creationId xmlns:a16="http://schemas.microsoft.com/office/drawing/2014/main" id="{E5D85273-5DB7-11E1-001A-AE6C3F8AC24F}"/>
              </a:ext>
            </a:extLst>
          </p:cNvPr>
          <p:cNvSpPr txBox="1"/>
          <p:nvPr/>
        </p:nvSpPr>
        <p:spPr>
          <a:xfrm>
            <a:off x="626301" y="1653436"/>
            <a:ext cx="11148165" cy="461665"/>
          </a:xfrm>
          <a:prstGeom prst="rect">
            <a:avLst/>
          </a:prstGeom>
          <a:noFill/>
        </p:spPr>
        <p:txBody>
          <a:bodyPr wrap="square" rtlCol="0">
            <a:spAutoFit/>
          </a:bodyPr>
          <a:lstStyle/>
          <a:p>
            <a:r>
              <a:rPr lang="en-US" altLang="zh-CN" sz="2400" b="1" dirty="0"/>
              <a:t>Challenge 1: Updating Step Calculation</a:t>
            </a:r>
            <a:endParaRPr lang="zh-CN" altLang="en-US" sz="2400" b="1" dirty="0"/>
          </a:p>
        </p:txBody>
      </p:sp>
    </p:spTree>
    <p:extLst>
      <p:ext uri="{BB962C8B-B14F-4D97-AF65-F5344CB8AC3E}">
        <p14:creationId xmlns:p14="http://schemas.microsoft.com/office/powerpoint/2010/main" val="2089593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9FEF6-B4EB-178D-CF13-6B30570F72F2}"/>
              </a:ext>
            </a:extLst>
          </p:cNvPr>
          <p:cNvSpPr>
            <a:spLocks noGrp="1"/>
          </p:cNvSpPr>
          <p:nvPr>
            <p:ph type="title"/>
          </p:nvPr>
        </p:nvSpPr>
        <p:spPr/>
        <p:txBody>
          <a:bodyPr/>
          <a:lstStyle/>
          <a:p>
            <a:r>
              <a:rPr lang="en-US" altLang="zh-CN" dirty="0"/>
              <a:t>Early Stopping</a:t>
            </a:r>
            <a:endParaRPr lang="zh-CN" altLang="en-US" dirty="0"/>
          </a:p>
        </p:txBody>
      </p:sp>
      <p:sp>
        <p:nvSpPr>
          <p:cNvPr id="3" name="内容占位符 2">
            <a:extLst>
              <a:ext uri="{FF2B5EF4-FFF2-40B4-BE49-F238E27FC236}">
                <a16:creationId xmlns:a16="http://schemas.microsoft.com/office/drawing/2014/main" id="{C0B0510A-1FBA-9EF9-965F-EC62269B34DB}"/>
              </a:ext>
            </a:extLst>
          </p:cNvPr>
          <p:cNvSpPr>
            <a:spLocks noGrp="1"/>
          </p:cNvSpPr>
          <p:nvPr>
            <p:ph idx="1"/>
          </p:nvPr>
        </p:nvSpPr>
        <p:spPr>
          <a:xfrm>
            <a:off x="521917" y="2295098"/>
            <a:ext cx="11148165" cy="4351338"/>
          </a:xfrm>
        </p:spPr>
        <p:txBody>
          <a:bodyPr/>
          <a:lstStyle/>
          <a:p>
            <a:r>
              <a:rPr lang="en-US" altLang="zh-CN" dirty="0"/>
              <a:t>Problem: Each GPU get different data, resulting in different parameters and loss, then how should a process stop?</a:t>
            </a:r>
          </a:p>
          <a:p>
            <a:endParaRPr lang="en-US" altLang="zh-CN" dirty="0"/>
          </a:p>
          <a:p>
            <a:r>
              <a:rPr lang="en-US" altLang="zh-CN" dirty="0"/>
              <a:t>Deadlock: Process 0 decides to stop (its shard had low loss), but Processes 1-3 continue. At the next synchronizing point or `</a:t>
            </a:r>
            <a:r>
              <a:rPr lang="en-US" altLang="zh-CN" dirty="0" err="1"/>
              <a:t>wait_for_everyone</a:t>
            </a:r>
            <a:r>
              <a:rPr lang="en-US" altLang="zh-CN" dirty="0"/>
              <a:t>()`, Process 0 hangs because the others never reach that synchronization point.</a:t>
            </a:r>
          </a:p>
          <a:p>
            <a:endParaRPr lang="en-US" altLang="zh-CN" dirty="0"/>
          </a:p>
          <a:p>
            <a:r>
              <a:rPr lang="en-US" altLang="zh-CN" dirty="0"/>
              <a:t>Solution: use global loss to determine stop or not</a:t>
            </a:r>
            <a:endParaRPr lang="zh-CN" altLang="en-US" dirty="0"/>
          </a:p>
        </p:txBody>
      </p:sp>
      <p:sp>
        <p:nvSpPr>
          <p:cNvPr id="4" name="文本框 3">
            <a:extLst>
              <a:ext uri="{FF2B5EF4-FFF2-40B4-BE49-F238E27FC236}">
                <a16:creationId xmlns:a16="http://schemas.microsoft.com/office/drawing/2014/main" id="{A30570E9-ABB9-7276-EF19-8165E181A6CA}"/>
              </a:ext>
            </a:extLst>
          </p:cNvPr>
          <p:cNvSpPr txBox="1"/>
          <p:nvPr/>
        </p:nvSpPr>
        <p:spPr>
          <a:xfrm>
            <a:off x="626301" y="1653436"/>
            <a:ext cx="11148165" cy="461665"/>
          </a:xfrm>
          <a:prstGeom prst="rect">
            <a:avLst/>
          </a:prstGeom>
          <a:noFill/>
        </p:spPr>
        <p:txBody>
          <a:bodyPr wrap="square" rtlCol="0">
            <a:spAutoFit/>
          </a:bodyPr>
          <a:lstStyle/>
          <a:p>
            <a:r>
              <a:rPr lang="en-US" altLang="zh-CN" sz="2400" b="1" dirty="0"/>
              <a:t>Challenge 2: Early Stopping</a:t>
            </a:r>
            <a:endParaRPr lang="zh-CN" altLang="en-US" sz="2400" b="1" dirty="0"/>
          </a:p>
        </p:txBody>
      </p:sp>
    </p:spTree>
    <p:extLst>
      <p:ext uri="{BB962C8B-B14F-4D97-AF65-F5344CB8AC3E}">
        <p14:creationId xmlns:p14="http://schemas.microsoft.com/office/powerpoint/2010/main" val="74583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769AD-C05C-BB1A-F3B1-F1A1ACBA179D}"/>
              </a:ext>
            </a:extLst>
          </p:cNvPr>
          <p:cNvSpPr>
            <a:spLocks noGrp="1"/>
          </p:cNvSpPr>
          <p:nvPr>
            <p:ph type="title"/>
          </p:nvPr>
        </p:nvSpPr>
        <p:spPr/>
        <p:txBody>
          <a:bodyPr/>
          <a:lstStyle/>
          <a:p>
            <a:r>
              <a:rPr lang="en-US" altLang="zh-CN" dirty="0"/>
              <a:t>Checkpoint Resumption</a:t>
            </a:r>
            <a:endParaRPr lang="zh-CN" altLang="en-US" dirty="0"/>
          </a:p>
        </p:txBody>
      </p:sp>
      <p:sp>
        <p:nvSpPr>
          <p:cNvPr id="3" name="内容占位符 2">
            <a:extLst>
              <a:ext uri="{FF2B5EF4-FFF2-40B4-BE49-F238E27FC236}">
                <a16:creationId xmlns:a16="http://schemas.microsoft.com/office/drawing/2014/main" id="{322552F0-09D6-8D4C-66C3-3DFD98AD71B4}"/>
              </a:ext>
            </a:extLst>
          </p:cNvPr>
          <p:cNvSpPr>
            <a:spLocks noGrp="1"/>
          </p:cNvSpPr>
          <p:nvPr>
            <p:ph idx="1"/>
          </p:nvPr>
        </p:nvSpPr>
        <p:spPr>
          <a:xfrm>
            <a:off x="838200" y="2304789"/>
            <a:ext cx="10515600" cy="3872174"/>
          </a:xfrm>
        </p:spPr>
        <p:txBody>
          <a:bodyPr>
            <a:normAutofit lnSpcReduction="10000"/>
          </a:bodyPr>
          <a:lstStyle/>
          <a:p>
            <a:r>
              <a:rPr lang="en-US" altLang="zh-CN" dirty="0"/>
              <a:t>Problem: When interrupted, all progress is lost. Restarting loaded the model weights but reset the optimizer and scheduler, and reset learning rate to initial value</a:t>
            </a:r>
          </a:p>
          <a:p>
            <a:endParaRPr lang="en-US" altLang="zh-CN" dirty="0"/>
          </a:p>
          <a:p>
            <a:r>
              <a:rPr lang="en-US" altLang="zh-CN" dirty="0"/>
              <a:t>Solution: let accelerate wrap model, optimizer, and scheduler. Skip the completed epochs when resuming training.</a:t>
            </a:r>
          </a:p>
          <a:p>
            <a:endParaRPr lang="en-US" altLang="zh-CN" dirty="0"/>
          </a:p>
          <a:p>
            <a:r>
              <a:rPr lang="en-US" altLang="zh-CN" dirty="0"/>
              <a:t>When train a new model based on existing model, we don’t need to resume the optimizer and scheduler of the existing model.</a:t>
            </a:r>
            <a:endParaRPr lang="zh-CN" altLang="en-US" dirty="0"/>
          </a:p>
        </p:txBody>
      </p:sp>
      <p:sp>
        <p:nvSpPr>
          <p:cNvPr id="4" name="文本框 3">
            <a:extLst>
              <a:ext uri="{FF2B5EF4-FFF2-40B4-BE49-F238E27FC236}">
                <a16:creationId xmlns:a16="http://schemas.microsoft.com/office/drawing/2014/main" id="{BD34881B-4A37-AB8E-13A3-BB8A783BDA21}"/>
              </a:ext>
            </a:extLst>
          </p:cNvPr>
          <p:cNvSpPr txBox="1"/>
          <p:nvPr/>
        </p:nvSpPr>
        <p:spPr>
          <a:xfrm>
            <a:off x="626301" y="1653436"/>
            <a:ext cx="11148165" cy="461665"/>
          </a:xfrm>
          <a:prstGeom prst="rect">
            <a:avLst/>
          </a:prstGeom>
          <a:noFill/>
        </p:spPr>
        <p:txBody>
          <a:bodyPr wrap="square" rtlCol="0">
            <a:spAutoFit/>
          </a:bodyPr>
          <a:lstStyle/>
          <a:p>
            <a:r>
              <a:rPr lang="en-US" altLang="zh-CN" sz="2400" b="1" dirty="0"/>
              <a:t>Challenge 3: Checkpoint Resumption</a:t>
            </a:r>
            <a:endParaRPr lang="zh-CN" altLang="en-US" sz="2400" b="1" dirty="0"/>
          </a:p>
        </p:txBody>
      </p:sp>
    </p:spTree>
    <p:extLst>
      <p:ext uri="{BB962C8B-B14F-4D97-AF65-F5344CB8AC3E}">
        <p14:creationId xmlns:p14="http://schemas.microsoft.com/office/powerpoint/2010/main" val="1470062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C15424D-004B-23D4-3087-0ECF4FDEBE08}"/>
              </a:ext>
            </a:extLst>
          </p:cNvPr>
          <p:cNvSpPr>
            <a:spLocks noGrp="1"/>
          </p:cNvSpPr>
          <p:nvPr>
            <p:ph type="body" idx="1"/>
          </p:nvPr>
        </p:nvSpPr>
        <p:spPr/>
        <p:txBody>
          <a:bodyPr/>
          <a:lstStyle/>
          <a:p>
            <a:endParaRPr lang="zh-CN" altLang="en-US"/>
          </a:p>
        </p:txBody>
      </p:sp>
      <p:sp>
        <p:nvSpPr>
          <p:cNvPr id="3" name="文本占位符 2">
            <a:extLst>
              <a:ext uri="{FF2B5EF4-FFF2-40B4-BE49-F238E27FC236}">
                <a16:creationId xmlns:a16="http://schemas.microsoft.com/office/drawing/2014/main" id="{EDAC7A41-DCBE-2992-24C5-64BC72249EA1}"/>
              </a:ext>
            </a:extLst>
          </p:cNvPr>
          <p:cNvSpPr>
            <a:spLocks noGrp="1"/>
          </p:cNvSpPr>
          <p:nvPr>
            <p:ph type="body" sz="quarter" idx="14"/>
          </p:nvPr>
        </p:nvSpPr>
        <p:spPr/>
        <p:txBody>
          <a:bodyPr/>
          <a:lstStyle/>
          <a:p>
            <a:r>
              <a:rPr lang="en-US" altLang="zh-CN" dirty="0"/>
              <a:t>04</a:t>
            </a:r>
            <a:endParaRPr lang="zh-CN" altLang="en-US" dirty="0"/>
          </a:p>
        </p:txBody>
      </p:sp>
      <p:sp>
        <p:nvSpPr>
          <p:cNvPr id="4" name="标题 3">
            <a:extLst>
              <a:ext uri="{FF2B5EF4-FFF2-40B4-BE49-F238E27FC236}">
                <a16:creationId xmlns:a16="http://schemas.microsoft.com/office/drawing/2014/main" id="{07C607FB-A04C-F504-68FB-995E17DD072D}"/>
              </a:ext>
            </a:extLst>
          </p:cNvPr>
          <p:cNvSpPr>
            <a:spLocks noGrp="1"/>
          </p:cNvSpPr>
          <p:nvPr>
            <p:ph type="title"/>
          </p:nvPr>
        </p:nvSpPr>
        <p:spPr/>
        <p:txBody>
          <a:bodyPr/>
          <a:lstStyle/>
          <a:p>
            <a:r>
              <a:rPr lang="en-US" altLang="zh-CN" dirty="0"/>
              <a:t>Summary</a:t>
            </a:r>
            <a:endParaRPr lang="zh-CN" altLang="en-US" dirty="0"/>
          </a:p>
        </p:txBody>
      </p:sp>
      <p:sp>
        <p:nvSpPr>
          <p:cNvPr id="5" name="内容占位符 4">
            <a:extLst>
              <a:ext uri="{FF2B5EF4-FFF2-40B4-BE49-F238E27FC236}">
                <a16:creationId xmlns:a16="http://schemas.microsoft.com/office/drawing/2014/main" id="{31698372-2DBB-DCF6-BDA9-7A042D9DF096}"/>
              </a:ext>
            </a:extLst>
          </p:cNvPr>
          <p:cNvSpPr>
            <a:spLocks noGrp="1"/>
          </p:cNvSpPr>
          <p:nvPr>
            <p:ph sz="quarter" idx="15"/>
          </p:nvPr>
        </p:nvSpPr>
        <p:spPr/>
        <p:txBody>
          <a:bodyPr/>
          <a:lstStyle/>
          <a:p>
            <a:r>
              <a:rPr lang="en-US" altLang="zh-CN" dirty="0"/>
              <a:t>Model Result</a:t>
            </a:r>
          </a:p>
          <a:p>
            <a:r>
              <a:rPr lang="en-US" altLang="zh-CN" dirty="0"/>
              <a:t>Summary</a:t>
            </a:r>
          </a:p>
        </p:txBody>
      </p:sp>
    </p:spTree>
    <p:extLst>
      <p:ext uri="{BB962C8B-B14F-4D97-AF65-F5344CB8AC3E}">
        <p14:creationId xmlns:p14="http://schemas.microsoft.com/office/powerpoint/2010/main" val="2748290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4F5E0-0177-A882-DB6C-C92E6957B264}"/>
              </a:ext>
            </a:extLst>
          </p:cNvPr>
          <p:cNvSpPr>
            <a:spLocks noGrp="1"/>
          </p:cNvSpPr>
          <p:nvPr>
            <p:ph type="title"/>
          </p:nvPr>
        </p:nvSpPr>
        <p:spPr/>
        <p:txBody>
          <a:bodyPr/>
          <a:lstStyle/>
          <a:p>
            <a:r>
              <a:rPr lang="en-US" altLang="zh-CN" dirty="0"/>
              <a:t>Model Result</a:t>
            </a:r>
            <a:endParaRPr lang="zh-CN" altLang="en-US" dirty="0"/>
          </a:p>
        </p:txBody>
      </p:sp>
      <p:graphicFrame>
        <p:nvGraphicFramePr>
          <p:cNvPr id="6" name="内容占位符 1">
            <a:extLst>
              <a:ext uri="{FF2B5EF4-FFF2-40B4-BE49-F238E27FC236}">
                <a16:creationId xmlns:a16="http://schemas.microsoft.com/office/drawing/2014/main" id="{13A2E9B0-4BDF-31AE-8235-C3B38BE2E322}"/>
              </a:ext>
            </a:extLst>
          </p:cNvPr>
          <p:cNvGraphicFramePr>
            <a:graphicFrameLocks noGrp="1"/>
          </p:cNvGraphicFramePr>
          <p:nvPr>
            <p:ph idx="1"/>
            <p:extLst>
              <p:ext uri="{D42A27DB-BD31-4B8C-83A1-F6EECF244321}">
                <p14:modId xmlns:p14="http://schemas.microsoft.com/office/powerpoint/2010/main" val="3719876754"/>
              </p:ext>
            </p:extLst>
          </p:nvPr>
        </p:nvGraphicFramePr>
        <p:xfrm>
          <a:off x="2149902" y="1875729"/>
          <a:ext cx="7892195" cy="4253327"/>
        </p:xfrm>
        <a:graphic>
          <a:graphicData uri="http://schemas.openxmlformats.org/drawingml/2006/table">
            <a:tbl>
              <a:tblPr firstRow="1" bandRow="1">
                <a:tableStyleId>{5C22544A-7EE6-4342-B048-85BDC9FD1C3A}</a:tableStyleId>
              </a:tblPr>
              <a:tblGrid>
                <a:gridCol w="2633663">
                  <a:extLst>
                    <a:ext uri="{9D8B030D-6E8A-4147-A177-3AD203B41FA5}">
                      <a16:colId xmlns:a16="http://schemas.microsoft.com/office/drawing/2014/main" val="1457720945"/>
                    </a:ext>
                  </a:extLst>
                </a:gridCol>
                <a:gridCol w="2629266">
                  <a:extLst>
                    <a:ext uri="{9D8B030D-6E8A-4147-A177-3AD203B41FA5}">
                      <a16:colId xmlns:a16="http://schemas.microsoft.com/office/drawing/2014/main" val="3355222134"/>
                    </a:ext>
                  </a:extLst>
                </a:gridCol>
                <a:gridCol w="2629266">
                  <a:extLst>
                    <a:ext uri="{9D8B030D-6E8A-4147-A177-3AD203B41FA5}">
                      <a16:colId xmlns:a16="http://schemas.microsoft.com/office/drawing/2014/main" val="3506721163"/>
                    </a:ext>
                  </a:extLst>
                </a:gridCol>
              </a:tblGrid>
              <a:tr h="621323">
                <a:tc>
                  <a:txBody>
                    <a:bodyPr/>
                    <a:lstStyle/>
                    <a:p>
                      <a:pPr algn="ctr"/>
                      <a:r>
                        <a:rPr lang="en-US" altLang="zh-CN" sz="2400" dirty="0"/>
                        <a:t>Model</a:t>
                      </a:r>
                      <a:endParaRPr lang="zh-CN" altLang="en-US" sz="2400" dirty="0"/>
                    </a:p>
                  </a:txBody>
                  <a:tcPr anchor="ctr">
                    <a:solidFill>
                      <a:srgbClr val="723DC1"/>
                    </a:solidFill>
                  </a:tcPr>
                </a:tc>
                <a:tc>
                  <a:txBody>
                    <a:bodyPr/>
                    <a:lstStyle/>
                    <a:p>
                      <a:pPr algn="ctr"/>
                      <a:r>
                        <a:rPr lang="en-US" altLang="zh-CN" sz="2400" dirty="0"/>
                        <a:t>Accuracy</a:t>
                      </a:r>
                      <a:endParaRPr lang="zh-CN" altLang="en-US" sz="2400" dirty="0"/>
                    </a:p>
                  </a:txBody>
                  <a:tcPr anchor="ctr">
                    <a:solidFill>
                      <a:srgbClr val="723DC1"/>
                    </a:solidFill>
                  </a:tcPr>
                </a:tc>
                <a:tc>
                  <a:txBody>
                    <a:bodyPr/>
                    <a:lstStyle/>
                    <a:p>
                      <a:pPr algn="ctr"/>
                      <a:r>
                        <a:rPr lang="en-US" altLang="zh-CN" sz="2400" dirty="0"/>
                        <a:t>Parse Rate</a:t>
                      </a:r>
                      <a:endParaRPr lang="zh-CN" altLang="en-US" sz="2400" dirty="0"/>
                    </a:p>
                  </a:txBody>
                  <a:tcPr anchor="ctr">
                    <a:solidFill>
                      <a:srgbClr val="723DC1"/>
                    </a:solidFill>
                  </a:tcPr>
                </a:tc>
                <a:extLst>
                  <a:ext uri="{0D108BD9-81ED-4DB2-BD59-A6C34878D82A}">
                    <a16:rowId xmlns:a16="http://schemas.microsoft.com/office/drawing/2014/main" val="306575736"/>
                  </a:ext>
                </a:extLst>
              </a:tr>
              <a:tr h="908001">
                <a:tc>
                  <a:txBody>
                    <a:bodyPr/>
                    <a:lstStyle/>
                    <a:p>
                      <a:pPr algn="ctr"/>
                      <a:r>
                        <a:rPr lang="en-US" altLang="zh-CN" sz="2000" dirty="0"/>
                        <a:t>Foundational Model</a:t>
                      </a:r>
                      <a:endParaRPr lang="zh-CN" altLang="en-US" sz="2000" dirty="0"/>
                    </a:p>
                  </a:txBody>
                  <a:tcPr anchor="ctr">
                    <a:solidFill>
                      <a:srgbClr val="CEC4EA"/>
                    </a:solidFill>
                  </a:tcPr>
                </a:tc>
                <a:tc>
                  <a:txBody>
                    <a:bodyPr/>
                    <a:lstStyle/>
                    <a:p>
                      <a:pPr algn="ctr"/>
                      <a:r>
                        <a:rPr lang="en-US" altLang="zh-CN" dirty="0"/>
                        <a:t>0.0%</a:t>
                      </a:r>
                      <a:endParaRPr lang="zh-CN" altLang="en-US" dirty="0"/>
                    </a:p>
                  </a:txBody>
                  <a:tcPr anchor="ctr">
                    <a:solidFill>
                      <a:srgbClr val="CEC4EA"/>
                    </a:solidFill>
                  </a:tcPr>
                </a:tc>
                <a:tc>
                  <a:txBody>
                    <a:bodyPr/>
                    <a:lstStyle/>
                    <a:p>
                      <a:pPr algn="ctr"/>
                      <a:r>
                        <a:rPr lang="en-US" altLang="zh-CN" dirty="0"/>
                        <a:t>0.0%</a:t>
                      </a:r>
                      <a:endParaRPr lang="zh-CN" altLang="en-US" dirty="0"/>
                    </a:p>
                  </a:txBody>
                  <a:tcPr anchor="ctr">
                    <a:solidFill>
                      <a:srgbClr val="CEC4EA"/>
                    </a:solidFill>
                  </a:tcPr>
                </a:tc>
                <a:extLst>
                  <a:ext uri="{0D108BD9-81ED-4DB2-BD59-A6C34878D82A}">
                    <a16:rowId xmlns:a16="http://schemas.microsoft.com/office/drawing/2014/main" val="764399812"/>
                  </a:ext>
                </a:extLst>
              </a:tr>
              <a:tr h="908001">
                <a:tc>
                  <a:txBody>
                    <a:bodyPr/>
                    <a:lstStyle/>
                    <a:p>
                      <a:pPr algn="ctr"/>
                      <a:r>
                        <a:rPr lang="en-US" altLang="zh-CN" sz="2000" dirty="0"/>
                        <a:t>Instruction Model</a:t>
                      </a:r>
                      <a:endParaRPr lang="zh-CN" altLang="en-US" sz="2000" dirty="0"/>
                    </a:p>
                  </a:txBody>
                  <a:tcPr anchor="ctr">
                    <a:solidFill>
                      <a:srgbClr val="E8E3F1"/>
                    </a:solidFill>
                  </a:tcPr>
                </a:tc>
                <a:tc>
                  <a:txBody>
                    <a:bodyPr/>
                    <a:lstStyle/>
                    <a:p>
                      <a:pPr algn="ctr"/>
                      <a:r>
                        <a:rPr lang="en-US" altLang="zh-CN" dirty="0"/>
                        <a:t>46.4%</a:t>
                      </a:r>
                      <a:endParaRPr lang="zh-CN" altLang="en-US" dirty="0"/>
                    </a:p>
                  </a:txBody>
                  <a:tcPr anchor="ctr">
                    <a:solidFill>
                      <a:srgbClr val="E8E3F1"/>
                    </a:solidFill>
                  </a:tcPr>
                </a:tc>
                <a:tc>
                  <a:txBody>
                    <a:bodyPr/>
                    <a:lstStyle/>
                    <a:p>
                      <a:pPr algn="ctr"/>
                      <a:r>
                        <a:rPr lang="en-US" altLang="zh-CN" dirty="0"/>
                        <a:t>88.4%</a:t>
                      </a:r>
                      <a:endParaRPr lang="zh-CN" altLang="en-US" dirty="0"/>
                    </a:p>
                  </a:txBody>
                  <a:tcPr anchor="ctr">
                    <a:solidFill>
                      <a:srgbClr val="E8E3F1"/>
                    </a:solidFill>
                  </a:tcPr>
                </a:tc>
                <a:extLst>
                  <a:ext uri="{0D108BD9-81ED-4DB2-BD59-A6C34878D82A}">
                    <a16:rowId xmlns:a16="http://schemas.microsoft.com/office/drawing/2014/main" val="2969850688"/>
                  </a:ext>
                </a:extLst>
              </a:tr>
              <a:tr h="908001">
                <a:tc>
                  <a:txBody>
                    <a:bodyPr/>
                    <a:lstStyle/>
                    <a:p>
                      <a:pPr algn="ctr"/>
                      <a:r>
                        <a:rPr lang="en-US" altLang="zh-CN" sz="2000" dirty="0" err="1"/>
                        <a:t>LoRA</a:t>
                      </a:r>
                      <a:r>
                        <a:rPr lang="en-US" altLang="zh-CN" sz="2000" dirty="0"/>
                        <a:t> Fine-tuned Model</a:t>
                      </a:r>
                      <a:endParaRPr lang="zh-CN" altLang="en-US" sz="2000" dirty="0"/>
                    </a:p>
                  </a:txBody>
                  <a:tcPr anchor="ctr">
                    <a:solidFill>
                      <a:srgbClr val="CEC4EA"/>
                    </a:solidFill>
                  </a:tcPr>
                </a:tc>
                <a:tc>
                  <a:txBody>
                    <a:bodyPr/>
                    <a:lstStyle/>
                    <a:p>
                      <a:pPr algn="ctr"/>
                      <a:r>
                        <a:rPr lang="en-US" altLang="zh-CN" dirty="0"/>
                        <a:t>46.6%</a:t>
                      </a:r>
                      <a:endParaRPr lang="zh-CN" altLang="en-US" dirty="0"/>
                    </a:p>
                  </a:txBody>
                  <a:tcPr anchor="ctr">
                    <a:solidFill>
                      <a:srgbClr val="CEC4EA"/>
                    </a:solidFill>
                  </a:tcPr>
                </a:tc>
                <a:tc>
                  <a:txBody>
                    <a:bodyPr/>
                    <a:lstStyle/>
                    <a:p>
                      <a:pPr algn="ctr"/>
                      <a:r>
                        <a:rPr lang="en-US" altLang="zh-CN" dirty="0"/>
                        <a:t>87.2%</a:t>
                      </a:r>
                      <a:endParaRPr lang="zh-CN" altLang="en-US" dirty="0"/>
                    </a:p>
                  </a:txBody>
                  <a:tcPr anchor="ctr">
                    <a:solidFill>
                      <a:srgbClr val="CEC4EA"/>
                    </a:solidFill>
                  </a:tcPr>
                </a:tc>
                <a:extLst>
                  <a:ext uri="{0D108BD9-81ED-4DB2-BD59-A6C34878D82A}">
                    <a16:rowId xmlns:a16="http://schemas.microsoft.com/office/drawing/2014/main" val="3103020191"/>
                  </a:ext>
                </a:extLst>
              </a:tr>
              <a:tr h="908001">
                <a:tc>
                  <a:txBody>
                    <a:bodyPr/>
                    <a:lstStyle/>
                    <a:p>
                      <a:pPr algn="ctr"/>
                      <a:r>
                        <a:rPr lang="en-US" altLang="zh-CN" sz="2000" dirty="0"/>
                        <a:t>GRPO Model</a:t>
                      </a:r>
                      <a:endParaRPr lang="zh-CN" altLang="en-US" sz="2000" dirty="0"/>
                    </a:p>
                  </a:txBody>
                  <a:tcPr anchor="ctr">
                    <a:solidFill>
                      <a:srgbClr val="E8E3F1"/>
                    </a:solidFill>
                  </a:tcPr>
                </a:tc>
                <a:tc>
                  <a:txBody>
                    <a:bodyPr/>
                    <a:lstStyle/>
                    <a:p>
                      <a:pPr algn="ctr"/>
                      <a:r>
                        <a:rPr lang="en-US" altLang="zh-CN" dirty="0"/>
                        <a:t>68.3%</a:t>
                      </a:r>
                      <a:endParaRPr lang="zh-CN" altLang="en-US" dirty="0"/>
                    </a:p>
                  </a:txBody>
                  <a:tcPr anchor="ctr">
                    <a:solidFill>
                      <a:srgbClr val="E8E3F1"/>
                    </a:solidFill>
                  </a:tcPr>
                </a:tc>
                <a:tc>
                  <a:txBody>
                    <a:bodyPr/>
                    <a:lstStyle/>
                    <a:p>
                      <a:pPr algn="ctr"/>
                      <a:r>
                        <a:rPr lang="en-US" altLang="zh-CN" dirty="0"/>
                        <a:t>81.9%</a:t>
                      </a:r>
                      <a:endParaRPr lang="zh-CN" altLang="en-US" dirty="0"/>
                    </a:p>
                  </a:txBody>
                  <a:tcPr anchor="ctr">
                    <a:solidFill>
                      <a:srgbClr val="E8E3F1"/>
                    </a:solidFill>
                  </a:tcPr>
                </a:tc>
                <a:extLst>
                  <a:ext uri="{0D108BD9-81ED-4DB2-BD59-A6C34878D82A}">
                    <a16:rowId xmlns:a16="http://schemas.microsoft.com/office/drawing/2014/main" val="2027735116"/>
                  </a:ext>
                </a:extLst>
              </a:tr>
            </a:tbl>
          </a:graphicData>
        </a:graphic>
      </p:graphicFrame>
    </p:spTree>
    <p:extLst>
      <p:ext uri="{BB962C8B-B14F-4D97-AF65-F5344CB8AC3E}">
        <p14:creationId xmlns:p14="http://schemas.microsoft.com/office/powerpoint/2010/main" val="3385834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03ABA-6CD3-CD6F-A82F-CE8A3561D596}"/>
              </a:ext>
            </a:extLst>
          </p:cNvPr>
          <p:cNvSpPr>
            <a:spLocks noGrp="1"/>
          </p:cNvSpPr>
          <p:nvPr>
            <p:ph type="title"/>
          </p:nvPr>
        </p:nvSpPr>
        <p:spPr/>
        <p:txBody>
          <a:bodyPr/>
          <a:lstStyle/>
          <a:p>
            <a:r>
              <a:rPr lang="en-US" altLang="zh-CN" dirty="0"/>
              <a:t>Summary</a:t>
            </a:r>
            <a:endParaRPr lang="zh-CN" altLang="en-US" dirty="0"/>
          </a:p>
        </p:txBody>
      </p:sp>
      <p:sp>
        <p:nvSpPr>
          <p:cNvPr id="3" name="内容占位符 2">
            <a:extLst>
              <a:ext uri="{FF2B5EF4-FFF2-40B4-BE49-F238E27FC236}">
                <a16:creationId xmlns:a16="http://schemas.microsoft.com/office/drawing/2014/main" id="{6E51F45D-153B-868C-44F2-DB31EB80A8FE}"/>
              </a:ext>
            </a:extLst>
          </p:cNvPr>
          <p:cNvSpPr>
            <a:spLocks noGrp="1"/>
          </p:cNvSpPr>
          <p:nvPr>
            <p:ph idx="1"/>
          </p:nvPr>
        </p:nvSpPr>
        <p:spPr>
          <a:xfrm>
            <a:off x="838199" y="1825624"/>
            <a:ext cx="10811005" cy="4537597"/>
          </a:xfrm>
        </p:spPr>
        <p:txBody>
          <a:bodyPr>
            <a:normAutofit fontScale="92500" lnSpcReduction="10000"/>
          </a:bodyPr>
          <a:lstStyle/>
          <a:p>
            <a:r>
              <a:rPr lang="en-US" altLang="zh-CN" dirty="0"/>
              <a:t>Key Technical Contributions</a:t>
            </a:r>
          </a:p>
          <a:p>
            <a:pPr lvl="1"/>
            <a:r>
              <a:rPr lang="en-US" altLang="zh-CN" dirty="0"/>
              <a:t>Multi-GPU distributed training with HuggingFace Accelerate</a:t>
            </a:r>
          </a:p>
          <a:p>
            <a:pPr lvl="1"/>
            <a:r>
              <a:rPr lang="en-US" altLang="zh-CN" dirty="0"/>
              <a:t>Distributed-synchronized early stopping and checkpoint resumption</a:t>
            </a:r>
          </a:p>
          <a:p>
            <a:pPr lvl="1"/>
            <a:r>
              <a:rPr lang="en-US" altLang="zh-CN" dirty="0"/>
              <a:t>Clean, modular project architecture</a:t>
            </a:r>
          </a:p>
          <a:p>
            <a:endParaRPr lang="en-US" altLang="zh-CN" dirty="0"/>
          </a:p>
          <a:p>
            <a:r>
              <a:rPr lang="en-US" altLang="zh-CN" dirty="0"/>
              <a:t>How many updating steps you need?</a:t>
            </a:r>
            <a:r>
              <a:rPr lang="zh-CN" altLang="en-US" dirty="0"/>
              <a:t> </a:t>
            </a:r>
            <a:r>
              <a:rPr lang="en-US" altLang="zh-CN" dirty="0"/>
              <a:t>When</a:t>
            </a:r>
            <a:r>
              <a:rPr lang="zh-CN" altLang="en-US" dirty="0"/>
              <a:t> </a:t>
            </a:r>
            <a:r>
              <a:rPr lang="en-US" altLang="zh-CN" dirty="0"/>
              <a:t>should</a:t>
            </a:r>
            <a:r>
              <a:rPr lang="zh-CN" altLang="en-US" dirty="0"/>
              <a:t> </a:t>
            </a:r>
            <a:r>
              <a:rPr lang="en-US" altLang="zh-CN" dirty="0"/>
              <a:t>this</a:t>
            </a:r>
            <a:r>
              <a:rPr lang="zh-CN" altLang="en-US" dirty="0"/>
              <a:t> </a:t>
            </a:r>
            <a:r>
              <a:rPr lang="en-US" altLang="zh-CN" dirty="0"/>
              <a:t>updating</a:t>
            </a:r>
            <a:r>
              <a:rPr lang="zh-CN" altLang="en-US" dirty="0"/>
              <a:t> </a:t>
            </a:r>
            <a:r>
              <a:rPr lang="en-US" altLang="zh-CN" dirty="0"/>
              <a:t>happens? Where should you place your optimizer and scheduler?</a:t>
            </a:r>
          </a:p>
          <a:p>
            <a:r>
              <a:rPr lang="en-US" altLang="zh-CN" dirty="0"/>
              <a:t>Global consensus is critical for distributed control flow</a:t>
            </a:r>
          </a:p>
          <a:p>
            <a:endParaRPr lang="en-US" altLang="zh-CN" dirty="0"/>
          </a:p>
          <a:p>
            <a:r>
              <a:rPr lang="en-US" altLang="zh-CN" dirty="0"/>
              <a:t>Be careful with the result even though no error is raised</a:t>
            </a:r>
          </a:p>
          <a:p>
            <a:r>
              <a:rPr lang="en-US" altLang="zh-CN" dirty="0"/>
              <a:t>Use version control (git) wisely and don’t forget to synchronize your code</a:t>
            </a:r>
            <a:endParaRPr lang="zh-CN" altLang="en-US" dirty="0"/>
          </a:p>
        </p:txBody>
      </p:sp>
    </p:spTree>
    <p:extLst>
      <p:ext uri="{BB962C8B-B14F-4D97-AF65-F5344CB8AC3E}">
        <p14:creationId xmlns:p14="http://schemas.microsoft.com/office/powerpoint/2010/main" val="123710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AD8A99B-13CF-F01B-EEDE-C468C5FD9308}"/>
              </a:ext>
            </a:extLst>
          </p:cNvPr>
          <p:cNvSpPr>
            <a:spLocks noGrp="1"/>
          </p:cNvSpPr>
          <p:nvPr>
            <p:ph sz="quarter" idx="13"/>
          </p:nvPr>
        </p:nvSpPr>
        <p:spPr>
          <a:xfrm>
            <a:off x="3053442" y="4965923"/>
            <a:ext cx="6085115" cy="415019"/>
          </a:xfrm>
        </p:spPr>
        <p:txBody>
          <a:bodyPr>
            <a:normAutofit/>
          </a:bodyPr>
          <a:lstStyle/>
          <a:p>
            <a:pPr marL="0" indent="0">
              <a:buNone/>
            </a:pPr>
            <a:r>
              <a:rPr lang="en-US" altLang="zh-CN" sz="2000" dirty="0">
                <a:solidFill>
                  <a:schemeClr val="bg1"/>
                </a:solidFill>
              </a:rPr>
              <a:t>GitHub: github.com/Tian-Yizhou/</a:t>
            </a:r>
            <a:r>
              <a:rPr lang="en-US" altLang="zh-CN" sz="2000" dirty="0" err="1">
                <a:solidFill>
                  <a:schemeClr val="bg1"/>
                </a:solidFill>
              </a:rPr>
              <a:t>Arithmetic_LLM</a:t>
            </a:r>
            <a:endParaRPr lang="zh-CN" altLang="en-US" sz="2000" dirty="0">
              <a:solidFill>
                <a:schemeClr val="bg1"/>
              </a:solidFill>
            </a:endParaRPr>
          </a:p>
        </p:txBody>
      </p:sp>
      <p:sp>
        <p:nvSpPr>
          <p:cNvPr id="2" name="标题 1">
            <a:extLst>
              <a:ext uri="{FF2B5EF4-FFF2-40B4-BE49-F238E27FC236}">
                <a16:creationId xmlns:a16="http://schemas.microsoft.com/office/drawing/2014/main" id="{36F3388E-CB4E-686E-954B-B11C77261818}"/>
              </a:ext>
            </a:extLst>
          </p:cNvPr>
          <p:cNvSpPr>
            <a:spLocks noGrp="1"/>
          </p:cNvSpPr>
          <p:nvPr>
            <p:ph type="title" idx="4294967295"/>
          </p:nvPr>
        </p:nvSpPr>
        <p:spPr>
          <a:xfrm>
            <a:off x="5219699" y="1319950"/>
            <a:ext cx="1752600" cy="917575"/>
          </a:xfrm>
        </p:spPr>
        <p:txBody>
          <a:bodyPr/>
          <a:lstStyle/>
          <a:p>
            <a:r>
              <a:rPr lang="en-US" altLang="zh-CN" dirty="0">
                <a:solidFill>
                  <a:schemeClr val="bg1"/>
                </a:solidFill>
              </a:rPr>
              <a:t>Q &amp; A</a:t>
            </a:r>
            <a:endParaRPr lang="zh-CN" altLang="en-US" dirty="0">
              <a:solidFill>
                <a:schemeClr val="bg1"/>
              </a:solidFill>
            </a:endParaRPr>
          </a:p>
        </p:txBody>
      </p:sp>
      <p:sp>
        <p:nvSpPr>
          <p:cNvPr id="4" name="内容占位符 2">
            <a:extLst>
              <a:ext uri="{FF2B5EF4-FFF2-40B4-BE49-F238E27FC236}">
                <a16:creationId xmlns:a16="http://schemas.microsoft.com/office/drawing/2014/main" id="{4FCB30E4-547E-0252-BCD6-AE165C2D770E}"/>
              </a:ext>
            </a:extLst>
          </p:cNvPr>
          <p:cNvSpPr txBox="1">
            <a:spLocks/>
          </p:cNvSpPr>
          <p:nvPr/>
        </p:nvSpPr>
        <p:spPr>
          <a:xfrm>
            <a:off x="1692728" y="2931318"/>
            <a:ext cx="8806543" cy="6470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5400" dirty="0">
                <a:solidFill>
                  <a:schemeClr val="bg1"/>
                </a:solidFill>
              </a:rPr>
              <a:t>Thank you for listening!</a:t>
            </a:r>
            <a:endParaRPr lang="zh-CN" altLang="en-US" sz="5400" dirty="0">
              <a:solidFill>
                <a:schemeClr val="bg1"/>
              </a:solidFill>
            </a:endParaRPr>
          </a:p>
        </p:txBody>
      </p:sp>
    </p:spTree>
    <p:extLst>
      <p:ext uri="{BB962C8B-B14F-4D97-AF65-F5344CB8AC3E}">
        <p14:creationId xmlns:p14="http://schemas.microsoft.com/office/powerpoint/2010/main" val="26444065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仿宋"/>
        <a:cs typeface=""/>
      </a:majorFont>
      <a:minorFont>
        <a:latin typeface="Times New Roman"/>
        <a:ea typeface="仿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1979</TotalTime>
  <Words>2071</Words>
  <Application>Microsoft Office PowerPoint</Application>
  <PresentationFormat>宽屏</PresentationFormat>
  <Paragraphs>191</Paragraphs>
  <Slides>19</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Noto Serif SC Black</vt:lpstr>
      <vt:lpstr>等线</vt:lpstr>
      <vt:lpstr>Arial</vt:lpstr>
      <vt:lpstr>Artifakt Element Black</vt:lpstr>
      <vt:lpstr>Times New Roman</vt:lpstr>
      <vt:lpstr>Office 主题​​</vt:lpstr>
      <vt:lpstr>Arithmetic LLM</vt:lpstr>
      <vt:lpstr>PowerPoint 演示文稿</vt:lpstr>
      <vt:lpstr>Project Introduction</vt:lpstr>
      <vt:lpstr>What is this project?</vt:lpstr>
      <vt:lpstr>Distributed Training</vt:lpstr>
      <vt:lpstr>Accelerator</vt:lpstr>
      <vt:lpstr>Reconstruction</vt:lpstr>
      <vt:lpstr>Framework-Level Refactoring</vt:lpstr>
      <vt:lpstr>Addition</vt:lpstr>
      <vt:lpstr>Addition</vt:lpstr>
      <vt:lpstr>Restructuring</vt:lpstr>
      <vt:lpstr>Technical Challenges</vt:lpstr>
      <vt:lpstr>Updating Step Calculation</vt:lpstr>
      <vt:lpstr>Early Stopping</vt:lpstr>
      <vt:lpstr>Checkpoint Resumption</vt:lpstr>
      <vt:lpstr>Summary</vt:lpstr>
      <vt:lpstr>Model Result</vt:lpstr>
      <vt:lpstr>Summary</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易洲 田</dc:creator>
  <cp:lastModifiedBy>易洲 田</cp:lastModifiedBy>
  <cp:revision>53</cp:revision>
  <dcterms:created xsi:type="dcterms:W3CDTF">2026-02-28T05:37:56Z</dcterms:created>
  <dcterms:modified xsi:type="dcterms:W3CDTF">2026-03-04T16:46:16Z</dcterms:modified>
</cp:coreProperties>
</file>